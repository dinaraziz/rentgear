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6"/>
    </p:embeddedFont>
    <p:embeddedFont>
      <p:font typeface="Calibri (MS) Bold Italics" charset="1" panose="020F07020304040A0204"/>
      <p:regular r:id="rId33"/>
    </p:embeddedFont>
    <p:embeddedFont>
      <p:font typeface="Courier New Bold" charset="1" panose="02070609020205020404"/>
      <p:regular r:id="rId34"/>
    </p:embeddedFont>
    <p:embeddedFont>
      <p:font typeface="Courier New" charset="1" panose="020703090202050204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5920" y="6309360"/>
            <a:ext cx="9601200" cy="4663440"/>
            <a:chOff x="0" y="0"/>
            <a:chExt cx="1280160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2801600">
                  <a:moveTo>
                    <a:pt x="0" y="6217920"/>
                  </a:moveTo>
                  <a:lnTo>
                    <a:pt x="6400800" y="0"/>
                  </a:lnTo>
                  <a:lnTo>
                    <a:pt x="12801600" y="6217920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66160" y="6995160"/>
            <a:ext cx="11658600" cy="3977640"/>
            <a:chOff x="0" y="0"/>
            <a:chExt cx="15544800" cy="5303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4800" cy="5303520"/>
            </a:xfrm>
            <a:custGeom>
              <a:avLst/>
              <a:gdLst/>
              <a:ahLst/>
              <a:cxnLst/>
              <a:rect r="r" b="b" t="t" l="l"/>
              <a:pathLst>
                <a:path h="5303520" w="15544800">
                  <a:moveTo>
                    <a:pt x="0" y="5303520"/>
                  </a:moveTo>
                  <a:lnTo>
                    <a:pt x="7772400" y="0"/>
                  </a:lnTo>
                  <a:lnTo>
                    <a:pt x="15544800" y="5303520"/>
                  </a:lnTo>
                  <a:close/>
                </a:path>
              </a:pathLst>
            </a:custGeom>
            <a:solidFill>
              <a:srgbClr val="234A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58600" y="5897880"/>
            <a:ext cx="9326880" cy="5074920"/>
            <a:chOff x="0" y="0"/>
            <a:chExt cx="12435840" cy="6766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35840" cy="6766560"/>
            </a:xfrm>
            <a:custGeom>
              <a:avLst/>
              <a:gdLst/>
              <a:ahLst/>
              <a:cxnLst/>
              <a:rect r="r" b="b" t="t" l="l"/>
              <a:pathLst>
                <a:path h="6766560" w="12435840">
                  <a:moveTo>
                    <a:pt x="0" y="6766560"/>
                  </a:moveTo>
                  <a:lnTo>
                    <a:pt x="6217920" y="0"/>
                  </a:lnTo>
                  <a:lnTo>
                    <a:pt x="12435840" y="6766560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125980"/>
            <a:ext cx="13716000" cy="548640"/>
            <a:chOff x="0" y="0"/>
            <a:chExt cx="182880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49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RANCANGAN SISTEM  ·  PROYEK PTI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860" y="2743200"/>
            <a:ext cx="14401800" cy="2057400"/>
            <a:chOff x="0" y="0"/>
            <a:chExt cx="1920240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19202400" cy="293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RentGear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4594860"/>
            <a:ext cx="14401800" cy="822960"/>
            <a:chOff x="0" y="0"/>
            <a:chExt cx="192024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92024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7F6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Marketplace Penyewaan Alat Hiking &amp; Camping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5486400"/>
            <a:ext cx="13167360" cy="822960"/>
            <a:chOff x="0" y="0"/>
            <a:chExt cx="175564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556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556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C9D6C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Availability sweep-line untuk anti double booking  ·  Smart matching berbasis AHP  ·  AI sebagai advisor, bukan pengambil keputusan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10320">
            <a:off x="1224896" y="8979218"/>
            <a:ext cx="6328439" cy="0"/>
          </a:xfrm>
          <a:prstGeom prst="line">
            <a:avLst/>
          </a:prstGeom>
          <a:ln cap="rnd" w="9525">
            <a:solidFill>
              <a:srgbClr val="97BC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234440" y="9162288"/>
            <a:ext cx="10972800" cy="480060"/>
            <a:chOff x="0" y="0"/>
            <a:chExt cx="146304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6304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FB3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 Architecture &amp; System Design  ·  Draft Desain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47720" y="9162288"/>
            <a:ext cx="1920240" cy="480060"/>
            <a:chOff x="0" y="0"/>
            <a:chExt cx="25603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5603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FB3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LATAR BELAKANG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Menyewa alat hiking hari ini itu buram dan rawan sengketa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5143500" cy="3497580"/>
            <a:chOff x="0" y="0"/>
            <a:chExt cx="6858000" cy="466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4517136"/>
                  </a:lnTo>
                  <a:cubicBezTo>
                    <a:pt x="6858000" y="4597908"/>
                    <a:pt x="6792468" y="4663440"/>
                    <a:pt x="671169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0861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08610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94560" y="3086100"/>
            <a:ext cx="3497580" cy="754380"/>
            <a:chOff x="0" y="0"/>
            <a:chExt cx="46634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63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6634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25880" y="4025265"/>
            <a:ext cx="4137660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20291D"/>
                </a:solidFill>
                <a:latin typeface="Calibri (MS)"/>
                <a:ea typeface="Calibri (MS)"/>
                <a:cs typeface="Calibri (MS)"/>
                <a:sym typeface="Calibri (MS)"/>
              </a:rPr>
              <a:t>Pendaki pemula tahu tujuan ("Prau, 2 hari, 4 orang"), bukan daftar alat. Ketersediaan tanggal tidak transparan — harus chat satu per satu.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377940" y="2674620"/>
            <a:ext cx="5143500" cy="3497580"/>
            <a:chOff x="0" y="0"/>
            <a:chExt cx="6858000" cy="466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4517136"/>
                  </a:lnTo>
                  <a:cubicBezTo>
                    <a:pt x="6858000" y="4597908"/>
                    <a:pt x="6792468" y="4663440"/>
                    <a:pt x="671169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89420" y="308610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89420" y="3086100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49540" y="3086100"/>
            <a:ext cx="3497580" cy="754380"/>
            <a:chOff x="0" y="0"/>
            <a:chExt cx="46634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63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6634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Provider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880860" y="4025265"/>
            <a:ext cx="4137660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20291D"/>
                </a:solidFill>
                <a:latin typeface="Calibri (MS)"/>
                <a:ea typeface="Calibri (MS)"/>
                <a:cs typeface="Calibri (MS)"/>
                <a:sym typeface="Calibri (MS)"/>
              </a:rPr>
              <a:t>Pencatatan manual (buku/WA/Excel) memicu double booking. Sengketa kerusakan alat tidak punya bukti kondisi awal yang objektif.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932920" y="2674620"/>
            <a:ext cx="5143500" cy="3497580"/>
            <a:chOff x="0" y="0"/>
            <a:chExt cx="6858000" cy="466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4517136"/>
                  </a:lnTo>
                  <a:cubicBezTo>
                    <a:pt x="6858000" y="4597908"/>
                    <a:pt x="6792468" y="4663440"/>
                    <a:pt x="671169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0" y="308610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0" y="3086100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058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304520" y="3086100"/>
            <a:ext cx="3497580" cy="754380"/>
            <a:chOff x="0" y="0"/>
            <a:chExt cx="46634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39" r="0" b="-4033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66344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Ekosistem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435840" y="4025265"/>
            <a:ext cx="4137660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20291D"/>
                </a:solidFill>
                <a:latin typeface="Calibri (MS)"/>
                <a:ea typeface="Calibri (MS)"/>
                <a:cs typeface="Calibri (MS)"/>
                <a:sym typeface="Calibri (MS)"/>
              </a:rPr>
              <a:t>Tidak ada mekanisme reputasi. Customer tidak tahu provider mana yang alatnya benar-benar terawat.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6515100"/>
            <a:ext cx="16596360" cy="2674620"/>
            <a:chOff x="0" y="0"/>
            <a:chExt cx="22128480" cy="3566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12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419856"/>
                  </a:lnTo>
                  <a:cubicBezTo>
                    <a:pt x="22128480" y="3500628"/>
                    <a:pt x="22062948" y="3566160"/>
                    <a:pt x="2198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03020" y="6789420"/>
            <a:ext cx="8229600" cy="480060"/>
            <a:chOff x="0" y="0"/>
            <a:chExt cx="1097280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09728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RUMUSAN MASALAH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03020" y="7269480"/>
            <a:ext cx="15636240" cy="1783080"/>
            <a:chOff x="0" y="0"/>
            <a:chExt cx="20848320" cy="2377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848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868" r="0" b="-12086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0"/>
              <a:ext cx="20848320" cy="2472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Bagaimana merancang marketplace penyewaan alat hiking yang (a) menerjemahkan kebutuhan perjalanan customer menjadi rekomendasi paket alat yang benar-benar tersedia pada tanggal yang diminta, (b) menjamin tidak terjadi double booking pada stok terbatas, dan (c) menyediakan proses pemeriksaan kondisi alat yang objektif dan dapat diaudit?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TUJUAN APLIKASI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Tujuan khusus, terukur — jadi kriteria pengujian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10561320" cy="713232"/>
            <a:chOff x="0" y="0"/>
            <a:chExt cx="14081760" cy="9509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81759" cy="950976"/>
            </a:xfrm>
            <a:custGeom>
              <a:avLst/>
              <a:gdLst/>
              <a:ahLst/>
              <a:cxnLst/>
              <a:rect r="r" b="b" t="t" l="l"/>
              <a:pathLst>
                <a:path h="950976" w="140817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3990320" y="0"/>
                  </a:lnTo>
                  <a:cubicBezTo>
                    <a:pt x="14040865" y="0"/>
                    <a:pt x="14081759" y="40894"/>
                    <a:pt x="14081759" y="91440"/>
                  </a:cubicBezTo>
                  <a:lnTo>
                    <a:pt x="14081759" y="859536"/>
                  </a:lnTo>
                  <a:cubicBezTo>
                    <a:pt x="14081759" y="910082"/>
                    <a:pt x="14040865" y="950976"/>
                    <a:pt x="13990320" y="950976"/>
                  </a:cubicBezTo>
                  <a:lnTo>
                    <a:pt x="91440" y="950976"/>
                  </a:lnTo>
                  <a:cubicBezTo>
                    <a:pt x="40894" y="950976"/>
                    <a:pt x="0" y="910082"/>
                    <a:pt x="0" y="8595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537460"/>
            <a:ext cx="754380" cy="713232"/>
            <a:chOff x="0" y="0"/>
            <a:chExt cx="1005840" cy="9509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950976"/>
            </a:xfrm>
            <a:custGeom>
              <a:avLst/>
              <a:gdLst/>
              <a:ahLst/>
              <a:cxnLst/>
              <a:rect r="r" b="b" t="t" l="l"/>
              <a:pathLst>
                <a:path h="95097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058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51660" y="2537460"/>
            <a:ext cx="3017520" cy="713232"/>
            <a:chOff x="0" y="0"/>
            <a:chExt cx="4023360" cy="9509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0" cy="950976"/>
            </a:xfrm>
            <a:custGeom>
              <a:avLst/>
              <a:gdLst/>
              <a:ahLst/>
              <a:cxnLst/>
              <a:rect r="r" b="b" t="t" l="l"/>
              <a:pathLst>
                <a:path h="95097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233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Cegah double booking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37760" y="2537460"/>
            <a:ext cx="6309360" cy="713232"/>
            <a:chOff x="0" y="0"/>
            <a:chExt cx="8412480" cy="9509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0" cy="950976"/>
            </a:xfrm>
            <a:custGeom>
              <a:avLst/>
              <a:gdLst/>
              <a:ahLst/>
              <a:cxnLst/>
              <a:rect r="r" b="b" t="t" l="l"/>
              <a:pathLst>
                <a:path h="95097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41248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 request booking bersamaan / 1 stok → tepat 1 sukses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387852"/>
            <a:ext cx="10561320" cy="713232"/>
            <a:chOff x="0" y="0"/>
            <a:chExt cx="14081760" cy="9509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81759" cy="950976"/>
            </a:xfrm>
            <a:custGeom>
              <a:avLst/>
              <a:gdLst/>
              <a:ahLst/>
              <a:cxnLst/>
              <a:rect r="r" b="b" t="t" l="l"/>
              <a:pathLst>
                <a:path h="950976" w="140817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3990320" y="0"/>
                  </a:lnTo>
                  <a:cubicBezTo>
                    <a:pt x="14040865" y="0"/>
                    <a:pt x="14081759" y="40894"/>
                    <a:pt x="14081759" y="91440"/>
                  </a:cubicBezTo>
                  <a:lnTo>
                    <a:pt x="14081759" y="859536"/>
                  </a:lnTo>
                  <a:cubicBezTo>
                    <a:pt x="14081759" y="910082"/>
                    <a:pt x="14040865" y="950976"/>
                    <a:pt x="13990320" y="950976"/>
                  </a:cubicBezTo>
                  <a:lnTo>
                    <a:pt x="91440" y="950976"/>
                  </a:lnTo>
                  <a:cubicBezTo>
                    <a:pt x="40894" y="950976"/>
                    <a:pt x="0" y="910082"/>
                    <a:pt x="0" y="859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3387852"/>
            <a:ext cx="754380" cy="713232"/>
            <a:chOff x="0" y="0"/>
            <a:chExt cx="1005840" cy="9509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950976"/>
            </a:xfrm>
            <a:custGeom>
              <a:avLst/>
              <a:gdLst/>
              <a:ahLst/>
              <a:cxnLst/>
              <a:rect r="r" b="b" t="t" l="l"/>
              <a:pathLst>
                <a:path h="95097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058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51660" y="3387852"/>
            <a:ext cx="3017520" cy="713232"/>
            <a:chOff x="0" y="0"/>
            <a:chExt cx="4023360" cy="9509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950976"/>
            </a:xfrm>
            <a:custGeom>
              <a:avLst/>
              <a:gdLst/>
              <a:ahLst/>
              <a:cxnLst/>
              <a:rect r="r" b="b" t="t" l="l"/>
              <a:pathLst>
                <a:path h="95097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0233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Rekomendasi otomatis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937760" y="3387852"/>
            <a:ext cx="6309360" cy="713232"/>
            <a:chOff x="0" y="0"/>
            <a:chExt cx="8412480" cy="9509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0" cy="950976"/>
            </a:xfrm>
            <a:custGeom>
              <a:avLst/>
              <a:gdLst/>
              <a:ahLst/>
              <a:cxnLst/>
              <a:rect r="r" b="b" t="t" l="l"/>
              <a:pathLst>
                <a:path h="95097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841248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kebutuhan → daftar alat + alasan skor, ≤ 3 detik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4238244"/>
            <a:ext cx="10561320" cy="713232"/>
            <a:chOff x="0" y="0"/>
            <a:chExt cx="14081760" cy="9509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081759" cy="950976"/>
            </a:xfrm>
            <a:custGeom>
              <a:avLst/>
              <a:gdLst/>
              <a:ahLst/>
              <a:cxnLst/>
              <a:rect r="r" b="b" t="t" l="l"/>
              <a:pathLst>
                <a:path h="950976" w="140817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3990320" y="0"/>
                  </a:lnTo>
                  <a:cubicBezTo>
                    <a:pt x="14040865" y="0"/>
                    <a:pt x="14081759" y="40894"/>
                    <a:pt x="14081759" y="91440"/>
                  </a:cubicBezTo>
                  <a:lnTo>
                    <a:pt x="14081759" y="859536"/>
                  </a:lnTo>
                  <a:cubicBezTo>
                    <a:pt x="14081759" y="910082"/>
                    <a:pt x="14040865" y="950976"/>
                    <a:pt x="13990320" y="950976"/>
                  </a:cubicBezTo>
                  <a:lnTo>
                    <a:pt x="91440" y="950976"/>
                  </a:lnTo>
                  <a:cubicBezTo>
                    <a:pt x="40894" y="950976"/>
                    <a:pt x="0" y="910082"/>
                    <a:pt x="0" y="8595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4238244"/>
            <a:ext cx="754380" cy="713232"/>
            <a:chOff x="0" y="0"/>
            <a:chExt cx="1005840" cy="9509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950976"/>
            </a:xfrm>
            <a:custGeom>
              <a:avLst/>
              <a:gdLst/>
              <a:ahLst/>
              <a:cxnLst/>
              <a:rect r="r" b="b" t="t" l="l"/>
              <a:pathLst>
                <a:path h="95097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058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51660" y="4238244"/>
            <a:ext cx="3017520" cy="713232"/>
            <a:chOff x="0" y="0"/>
            <a:chExt cx="402336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950976"/>
            </a:xfrm>
            <a:custGeom>
              <a:avLst/>
              <a:gdLst/>
              <a:ahLst/>
              <a:cxnLst/>
              <a:rect r="r" b="b" t="t" l="l"/>
              <a:pathLst>
                <a:path h="95097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0233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Transparansi ketersediaan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37760" y="4238244"/>
            <a:ext cx="6309360" cy="713232"/>
            <a:chOff x="0" y="0"/>
            <a:chExt cx="8412480" cy="9509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12480" cy="950976"/>
            </a:xfrm>
            <a:custGeom>
              <a:avLst/>
              <a:gdLst/>
              <a:ahLst/>
              <a:cxnLst/>
              <a:rect r="r" b="b" t="t" l="l"/>
              <a:pathLst>
                <a:path h="95097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841248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Kalender per alat akurat 100% terhadap data transaksi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5088636"/>
            <a:ext cx="10561320" cy="713232"/>
            <a:chOff x="0" y="0"/>
            <a:chExt cx="14081760" cy="9509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081759" cy="950976"/>
            </a:xfrm>
            <a:custGeom>
              <a:avLst/>
              <a:gdLst/>
              <a:ahLst/>
              <a:cxnLst/>
              <a:rect r="r" b="b" t="t" l="l"/>
              <a:pathLst>
                <a:path h="950976" w="140817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3990320" y="0"/>
                  </a:lnTo>
                  <a:cubicBezTo>
                    <a:pt x="14040865" y="0"/>
                    <a:pt x="14081759" y="40894"/>
                    <a:pt x="14081759" y="91440"/>
                  </a:cubicBezTo>
                  <a:lnTo>
                    <a:pt x="14081759" y="859536"/>
                  </a:lnTo>
                  <a:cubicBezTo>
                    <a:pt x="14081759" y="910082"/>
                    <a:pt x="14040865" y="950976"/>
                    <a:pt x="13990320" y="950976"/>
                  </a:cubicBezTo>
                  <a:lnTo>
                    <a:pt x="91440" y="950976"/>
                  </a:lnTo>
                  <a:cubicBezTo>
                    <a:pt x="40894" y="950976"/>
                    <a:pt x="0" y="910082"/>
                    <a:pt x="0" y="859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8700" y="5088636"/>
            <a:ext cx="754380" cy="713232"/>
            <a:chOff x="0" y="0"/>
            <a:chExt cx="1005840" cy="9509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950976"/>
            </a:xfrm>
            <a:custGeom>
              <a:avLst/>
              <a:gdLst/>
              <a:ahLst/>
              <a:cxnLst/>
              <a:rect r="r" b="b" t="t" l="l"/>
              <a:pathLst>
                <a:path h="95097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058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51660" y="5088636"/>
            <a:ext cx="3017520" cy="713232"/>
            <a:chOff x="0" y="0"/>
            <a:chExt cx="4023360" cy="9509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0" cy="950976"/>
            </a:xfrm>
            <a:custGeom>
              <a:avLst/>
              <a:gdLst/>
              <a:ahLst/>
              <a:cxnLst/>
              <a:rect r="r" b="b" t="t" l="l"/>
              <a:pathLst>
                <a:path h="95097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0233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Kondisi terdokumentasi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937760" y="5088636"/>
            <a:ext cx="6309360" cy="713232"/>
            <a:chOff x="0" y="0"/>
            <a:chExt cx="8412480" cy="95097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412480" cy="950976"/>
            </a:xfrm>
            <a:custGeom>
              <a:avLst/>
              <a:gdLst/>
              <a:ahLst/>
              <a:cxnLst/>
              <a:rect r="r" b="b" t="t" l="l"/>
              <a:pathLst>
                <a:path h="95097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841248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Setiap transaksi selesai punya ≥1 snapshot pre &amp; post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5939028"/>
            <a:ext cx="10561320" cy="713232"/>
            <a:chOff x="0" y="0"/>
            <a:chExt cx="14081760" cy="95097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081759" cy="950976"/>
            </a:xfrm>
            <a:custGeom>
              <a:avLst/>
              <a:gdLst/>
              <a:ahLst/>
              <a:cxnLst/>
              <a:rect r="r" b="b" t="t" l="l"/>
              <a:pathLst>
                <a:path h="950976" w="140817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3990320" y="0"/>
                  </a:lnTo>
                  <a:cubicBezTo>
                    <a:pt x="14040865" y="0"/>
                    <a:pt x="14081759" y="40894"/>
                    <a:pt x="14081759" y="91440"/>
                  </a:cubicBezTo>
                  <a:lnTo>
                    <a:pt x="14081759" y="859536"/>
                  </a:lnTo>
                  <a:cubicBezTo>
                    <a:pt x="14081759" y="910082"/>
                    <a:pt x="14040865" y="950976"/>
                    <a:pt x="13990320" y="950976"/>
                  </a:cubicBezTo>
                  <a:lnTo>
                    <a:pt x="91440" y="950976"/>
                  </a:lnTo>
                  <a:cubicBezTo>
                    <a:pt x="40894" y="950976"/>
                    <a:pt x="0" y="910082"/>
                    <a:pt x="0" y="8595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28700" y="5939028"/>
            <a:ext cx="754380" cy="713232"/>
            <a:chOff x="0" y="0"/>
            <a:chExt cx="1005840" cy="9509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5840" cy="950976"/>
            </a:xfrm>
            <a:custGeom>
              <a:avLst/>
              <a:gdLst/>
              <a:ahLst/>
              <a:cxnLst/>
              <a:rect r="r" b="b" t="t" l="l"/>
              <a:pathLst>
                <a:path h="95097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058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851660" y="5939028"/>
            <a:ext cx="3017520" cy="713232"/>
            <a:chOff x="0" y="0"/>
            <a:chExt cx="4023360" cy="95097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950976"/>
            </a:xfrm>
            <a:custGeom>
              <a:avLst/>
              <a:gdLst/>
              <a:ahLst/>
              <a:cxnLst/>
              <a:rect r="r" b="b" t="t" l="l"/>
              <a:pathLst>
                <a:path h="95097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0233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tidak otonom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937760" y="5939028"/>
            <a:ext cx="6309360" cy="713232"/>
            <a:chOff x="0" y="0"/>
            <a:chExt cx="8412480" cy="9509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0" cy="950976"/>
            </a:xfrm>
            <a:custGeom>
              <a:avLst/>
              <a:gdLst/>
              <a:ahLst/>
              <a:cxnLst/>
              <a:rect r="r" b="b" t="t" l="l"/>
              <a:pathLst>
                <a:path h="95097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841248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hasil AI berstatus pending_review sebelum berdampak finansial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22960" y="6789420"/>
            <a:ext cx="10561320" cy="713232"/>
            <a:chOff x="0" y="0"/>
            <a:chExt cx="14081760" cy="9509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081759" cy="950976"/>
            </a:xfrm>
            <a:custGeom>
              <a:avLst/>
              <a:gdLst/>
              <a:ahLst/>
              <a:cxnLst/>
              <a:rect r="r" b="b" t="t" l="l"/>
              <a:pathLst>
                <a:path h="950976" w="140817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3990320" y="0"/>
                  </a:lnTo>
                  <a:cubicBezTo>
                    <a:pt x="14040865" y="0"/>
                    <a:pt x="14081759" y="40894"/>
                    <a:pt x="14081759" y="91440"/>
                  </a:cubicBezTo>
                  <a:lnTo>
                    <a:pt x="14081759" y="859536"/>
                  </a:lnTo>
                  <a:cubicBezTo>
                    <a:pt x="14081759" y="910082"/>
                    <a:pt x="14040865" y="950976"/>
                    <a:pt x="13990320" y="950976"/>
                  </a:cubicBezTo>
                  <a:lnTo>
                    <a:pt x="91440" y="950976"/>
                  </a:lnTo>
                  <a:cubicBezTo>
                    <a:pt x="40894" y="950976"/>
                    <a:pt x="0" y="910082"/>
                    <a:pt x="0" y="8595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8700" y="6789420"/>
            <a:ext cx="754380" cy="713232"/>
            <a:chOff x="0" y="0"/>
            <a:chExt cx="1005840" cy="95097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5840" cy="950976"/>
            </a:xfrm>
            <a:custGeom>
              <a:avLst/>
              <a:gdLst/>
              <a:ahLst/>
              <a:cxnLst/>
              <a:rect r="r" b="b" t="t" l="l"/>
              <a:pathLst>
                <a:path h="95097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05840" cy="99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851660" y="6789420"/>
            <a:ext cx="3017520" cy="713232"/>
            <a:chOff x="0" y="0"/>
            <a:chExt cx="4023360" cy="9509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0" cy="950976"/>
            </a:xfrm>
            <a:custGeom>
              <a:avLst/>
              <a:gdLst/>
              <a:ahLst/>
              <a:cxnLst/>
              <a:rect r="r" b="b" t="t" l="l"/>
              <a:pathLst>
                <a:path h="95097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023360" cy="989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Keamanan peran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37760" y="6789420"/>
            <a:ext cx="6309360" cy="713232"/>
            <a:chOff x="0" y="0"/>
            <a:chExt cx="8412480" cy="95097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412480" cy="950976"/>
            </a:xfrm>
            <a:custGeom>
              <a:avLst/>
              <a:gdLst/>
              <a:ahLst/>
              <a:cxnLst/>
              <a:rect r="r" b="b" t="t" l="l"/>
              <a:pathLst>
                <a:path h="95097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8412480" cy="9795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Akses lintas-role diuji → semua ditolak 403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795760" y="2537460"/>
            <a:ext cx="5623560" cy="4965192"/>
            <a:chOff x="0" y="0"/>
            <a:chExt cx="7498080" cy="66202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498080" cy="6620256"/>
            </a:xfrm>
            <a:custGeom>
              <a:avLst/>
              <a:gdLst/>
              <a:ahLst/>
              <a:cxnLst/>
              <a:rect r="r" b="b" t="t" l="l"/>
              <a:pathLst>
                <a:path h="6620256" w="7498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351776" y="0"/>
                  </a:lnTo>
                  <a:cubicBezTo>
                    <a:pt x="7432548" y="0"/>
                    <a:pt x="7498080" y="65532"/>
                    <a:pt x="7498080" y="146304"/>
                  </a:cubicBezTo>
                  <a:lnTo>
                    <a:pt x="7498080" y="6473952"/>
                  </a:lnTo>
                  <a:cubicBezTo>
                    <a:pt x="7498080" y="6554724"/>
                    <a:pt x="7432548" y="6620256"/>
                    <a:pt x="7351776" y="6620256"/>
                  </a:cubicBezTo>
                  <a:lnTo>
                    <a:pt x="146304" y="6620256"/>
                  </a:lnTo>
                  <a:cubicBezTo>
                    <a:pt x="65532" y="6620256"/>
                    <a:pt x="0" y="6554724"/>
                    <a:pt x="0" y="6473952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207240" y="2839212"/>
            <a:ext cx="4800600" cy="438912"/>
            <a:chOff x="0" y="0"/>
            <a:chExt cx="6400800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400800" cy="585216"/>
            </a:xfrm>
            <a:custGeom>
              <a:avLst/>
              <a:gdLst/>
              <a:ahLst/>
              <a:cxnLst/>
              <a:rect r="r" b="b" t="t" l="l"/>
              <a:pathLst>
                <a:path h="58521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64008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 LUAR CAKUPAN (NON-GOALS)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07240" y="3264408"/>
            <a:ext cx="4800600" cy="548640"/>
            <a:chOff x="0" y="0"/>
            <a:chExt cx="640080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500" i="true">
                  <a:solidFill>
                    <a:srgbClr val="C9D6C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Sengaja tidak dibuat tahap ini — batas sadar, bukan kekurangan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207240" y="3977640"/>
            <a:ext cx="4800600" cy="3182112"/>
            <a:chOff x="0" y="0"/>
            <a:chExt cx="6400800" cy="42428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400800" cy="4242816"/>
            </a:xfrm>
            <a:custGeom>
              <a:avLst/>
              <a:gdLst/>
              <a:ahLst/>
              <a:cxnLst/>
              <a:rect r="r" b="b" t="t" l="l"/>
              <a:pathLst>
                <a:path h="424281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4242816"/>
                  </a:lnTo>
                  <a:lnTo>
                    <a:pt x="0" y="42428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046" t="0" r="-35046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6400800" cy="43094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9328" indent="-169664" lvl="1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Bukan payment gateway sungguhan (simulasi/manual transfer)</a:t>
              </a:r>
            </a:p>
            <a:p>
              <a:pPr algn="l" marL="339328" indent="-169664" lvl="1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Bukan aplikasi mobile native</a:t>
              </a:r>
            </a:p>
            <a:p>
              <a:pPr algn="l" marL="339328" indent="-169664" lvl="1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Bukan sistem pengiriman/logistik (ambil di provider)</a:t>
              </a:r>
            </a:p>
            <a:p>
              <a:pPr algn="l" marL="339328" indent="-169664" lvl="1">
                <a:lnSpc>
                  <a:spcPts val="2587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Bukan chat real-time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AKTOR &amp; ROLE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Satu user boleh punya banyak role (tabel pivot user_roles)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5280660" cy="1508760"/>
            <a:chOff x="0" y="0"/>
            <a:chExt cx="704088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0408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912864" y="0"/>
                  </a:lnTo>
                  <a:cubicBezTo>
                    <a:pt x="6983603" y="0"/>
                    <a:pt x="7040880" y="57277"/>
                    <a:pt x="7040880" y="128016"/>
                  </a:cubicBezTo>
                  <a:lnTo>
                    <a:pt x="7040880" y="1883664"/>
                  </a:lnTo>
                  <a:cubicBezTo>
                    <a:pt x="7040880" y="1954403"/>
                    <a:pt x="6983603" y="2011680"/>
                    <a:pt x="6912864" y="2011680"/>
                  </a:cubicBezTo>
                  <a:lnTo>
                    <a:pt x="128016" y="2011680"/>
                  </a:lnTo>
                  <a:cubicBezTo>
                    <a:pt x="57277" y="2011680"/>
                    <a:pt x="0" y="1954403"/>
                    <a:pt x="0" y="1883664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674620"/>
            <a:ext cx="4732020" cy="548640"/>
            <a:chOff x="0" y="0"/>
            <a:chExt cx="630936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Guest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3223260"/>
            <a:ext cx="4732020" cy="685800"/>
            <a:chOff x="0" y="0"/>
            <a:chExt cx="630936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309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Pengunjung, belum login — default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46520" y="2537460"/>
            <a:ext cx="5280660" cy="1508760"/>
            <a:chOff x="0" y="0"/>
            <a:chExt cx="704088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0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0408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912864" y="0"/>
                  </a:lnTo>
                  <a:cubicBezTo>
                    <a:pt x="6983603" y="0"/>
                    <a:pt x="7040880" y="57277"/>
                    <a:pt x="7040880" y="128016"/>
                  </a:cubicBezTo>
                  <a:lnTo>
                    <a:pt x="7040880" y="1883664"/>
                  </a:lnTo>
                  <a:cubicBezTo>
                    <a:pt x="7040880" y="1954403"/>
                    <a:pt x="6983603" y="2011680"/>
                    <a:pt x="6912864" y="2011680"/>
                  </a:cubicBezTo>
                  <a:lnTo>
                    <a:pt x="128016" y="2011680"/>
                  </a:lnTo>
                  <a:cubicBezTo>
                    <a:pt x="57277" y="2011680"/>
                    <a:pt x="0" y="1954403"/>
                    <a:pt x="0" y="1883664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20840" y="2674620"/>
            <a:ext cx="4732020" cy="548640"/>
            <a:chOff x="0" y="0"/>
            <a:chExt cx="63093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20840" y="3223260"/>
            <a:ext cx="4732020" cy="685800"/>
            <a:chOff x="0" y="0"/>
            <a:chExt cx="630936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309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Menyewa alat — registrasi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70080" y="2537460"/>
            <a:ext cx="5280660" cy="1508760"/>
            <a:chOff x="0" y="0"/>
            <a:chExt cx="7040880" cy="2011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0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0408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912864" y="0"/>
                  </a:lnTo>
                  <a:cubicBezTo>
                    <a:pt x="6983603" y="0"/>
                    <a:pt x="7040880" y="57277"/>
                    <a:pt x="7040880" y="128016"/>
                  </a:cubicBezTo>
                  <a:lnTo>
                    <a:pt x="7040880" y="1883664"/>
                  </a:lnTo>
                  <a:cubicBezTo>
                    <a:pt x="7040880" y="1954403"/>
                    <a:pt x="6983603" y="2011680"/>
                    <a:pt x="6912864" y="2011680"/>
                  </a:cubicBezTo>
                  <a:lnTo>
                    <a:pt x="128016" y="2011680"/>
                  </a:lnTo>
                  <a:cubicBezTo>
                    <a:pt x="57277" y="2011680"/>
                    <a:pt x="0" y="1954403"/>
                    <a:pt x="0" y="1883664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0" y="2674620"/>
            <a:ext cx="4732020" cy="548640"/>
            <a:chOff x="0" y="0"/>
            <a:chExt cx="63093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Provider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0" y="3223260"/>
            <a:ext cx="4732020" cy="685800"/>
            <a:chOff x="0" y="0"/>
            <a:chExt cx="630936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09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Penyedia alat — registrasi + verifikasi admin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4389120"/>
            <a:ext cx="5280660" cy="1508760"/>
            <a:chOff x="0" y="0"/>
            <a:chExt cx="7040880" cy="2011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40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0408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912864" y="0"/>
                  </a:lnTo>
                  <a:cubicBezTo>
                    <a:pt x="6983603" y="0"/>
                    <a:pt x="7040880" y="57277"/>
                    <a:pt x="7040880" y="128016"/>
                  </a:cubicBezTo>
                  <a:lnTo>
                    <a:pt x="7040880" y="1883664"/>
                  </a:lnTo>
                  <a:cubicBezTo>
                    <a:pt x="7040880" y="1954403"/>
                    <a:pt x="6983603" y="2011680"/>
                    <a:pt x="6912864" y="2011680"/>
                  </a:cubicBezTo>
                  <a:lnTo>
                    <a:pt x="128016" y="2011680"/>
                  </a:lnTo>
                  <a:cubicBezTo>
                    <a:pt x="57277" y="2011680"/>
                    <a:pt x="0" y="1954403"/>
                    <a:pt x="0" y="1883664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7280" y="4526280"/>
            <a:ext cx="4732020" cy="548640"/>
            <a:chOff x="0" y="0"/>
            <a:chExt cx="63093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" y="5074920"/>
            <a:ext cx="4732020" cy="685800"/>
            <a:chOff x="0" y="0"/>
            <a:chExt cx="630936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309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Pengelola platform — di-seed manual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46520" y="4389120"/>
            <a:ext cx="5280660" cy="1508760"/>
            <a:chOff x="0" y="0"/>
            <a:chExt cx="7040880" cy="2011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0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0408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912864" y="0"/>
                  </a:lnTo>
                  <a:cubicBezTo>
                    <a:pt x="6983603" y="0"/>
                    <a:pt x="7040880" y="57277"/>
                    <a:pt x="7040880" y="128016"/>
                  </a:cubicBezTo>
                  <a:lnTo>
                    <a:pt x="7040880" y="1883664"/>
                  </a:lnTo>
                  <a:cubicBezTo>
                    <a:pt x="7040880" y="1954403"/>
                    <a:pt x="6983603" y="2011680"/>
                    <a:pt x="6912864" y="2011680"/>
                  </a:cubicBezTo>
                  <a:lnTo>
                    <a:pt x="128016" y="2011680"/>
                  </a:lnTo>
                  <a:cubicBezTo>
                    <a:pt x="57277" y="2011680"/>
                    <a:pt x="0" y="1954403"/>
                    <a:pt x="0" y="1883664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720840" y="4526280"/>
            <a:ext cx="4732020" cy="548640"/>
            <a:chOff x="0" y="0"/>
            <a:chExt cx="63093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(cron)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720840" y="5074920"/>
            <a:ext cx="4732020" cy="685800"/>
            <a:chOff x="0" y="0"/>
            <a:chExt cx="630936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309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Pengingat, auto-cancel, hitung denda telat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070080" y="4389120"/>
            <a:ext cx="5280660" cy="1508760"/>
            <a:chOff x="0" y="0"/>
            <a:chExt cx="7040880" cy="2011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40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04088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6912864" y="0"/>
                  </a:lnTo>
                  <a:cubicBezTo>
                    <a:pt x="6983603" y="0"/>
                    <a:pt x="7040880" y="57277"/>
                    <a:pt x="7040880" y="128016"/>
                  </a:cubicBezTo>
                  <a:lnTo>
                    <a:pt x="7040880" y="1883664"/>
                  </a:lnTo>
                  <a:cubicBezTo>
                    <a:pt x="7040880" y="1954403"/>
                    <a:pt x="6983603" y="2011680"/>
                    <a:pt x="6912864" y="2011680"/>
                  </a:cubicBezTo>
                  <a:lnTo>
                    <a:pt x="128016" y="2011680"/>
                  </a:lnTo>
                  <a:cubicBezTo>
                    <a:pt x="57277" y="2011680"/>
                    <a:pt x="0" y="1954403"/>
                    <a:pt x="0" y="1883664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0" y="4526280"/>
            <a:ext cx="4732020" cy="548640"/>
            <a:chOff x="0" y="0"/>
            <a:chExt cx="63093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 API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44400" y="5074920"/>
            <a:ext cx="4732020" cy="685800"/>
            <a:chOff x="0" y="0"/>
            <a:chExt cx="630936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309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Aktor pendukung — advisory saja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6240780"/>
            <a:ext cx="16596360" cy="2948940"/>
            <a:chOff x="0" y="0"/>
            <a:chExt cx="22128480" cy="3931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284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785616"/>
                  </a:lnTo>
                  <a:cubicBezTo>
                    <a:pt x="22128480" y="3866388"/>
                    <a:pt x="22062948" y="3931920"/>
                    <a:pt x="2198217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03020" y="6679692"/>
            <a:ext cx="850392" cy="850392"/>
            <a:chOff x="0" y="0"/>
            <a:chExt cx="1133856" cy="11338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03020" y="6679692"/>
            <a:ext cx="850392" cy="850392"/>
            <a:chOff x="0" y="0"/>
            <a:chExt cx="1133856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400300" y="6515100"/>
            <a:ext cx="10972800" cy="480060"/>
            <a:chOff x="0" y="0"/>
            <a:chExt cx="14630400" cy="6400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46304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3D24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CATATAN DESAIN PENTING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400300" y="7023542"/>
            <a:ext cx="14111283" cy="71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sz="222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Provider mengusulkan, admin memutuskan — untuk segala hal yang berdampak uang (denda). Ini mencegah provider nakal memanfaatkan output AI untuk memeras customer, sekaligus memenuhi syarat "AI tidak menggantikan admin".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RUANG LINGKUP FITUR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Tujuh modul, dari akun sampai reputasi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3922776" cy="2948940"/>
            <a:chOff x="0" y="0"/>
            <a:chExt cx="5230368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0368" cy="3931920"/>
            </a:xfrm>
            <a:custGeom>
              <a:avLst/>
              <a:gdLst/>
              <a:ahLst/>
              <a:cxnLst/>
              <a:rect r="r" b="b" t="t" l="l"/>
              <a:pathLst>
                <a:path h="3931920" w="5230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02352" y="0"/>
                  </a:lnTo>
                  <a:cubicBezTo>
                    <a:pt x="5173091" y="0"/>
                    <a:pt x="5230368" y="57277"/>
                    <a:pt x="5230368" y="128016"/>
                  </a:cubicBezTo>
                  <a:lnTo>
                    <a:pt x="5230368" y="3803904"/>
                  </a:lnTo>
                  <a:cubicBezTo>
                    <a:pt x="5230368" y="3874643"/>
                    <a:pt x="5173091" y="3931920"/>
                    <a:pt x="5102352" y="3931920"/>
                  </a:cubicBezTo>
                  <a:lnTo>
                    <a:pt x="128016" y="3931920"/>
                  </a:lnTo>
                  <a:cubicBezTo>
                    <a:pt x="57277" y="3931920"/>
                    <a:pt x="0" y="3874643"/>
                    <a:pt x="0" y="380390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811780"/>
            <a:ext cx="1371600" cy="685800"/>
            <a:chOff x="0" y="0"/>
            <a:chExt cx="18288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828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3566160"/>
            <a:ext cx="3374136" cy="754380"/>
            <a:chOff x="0" y="0"/>
            <a:chExt cx="4498848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88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1" r="0" b="-3715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49884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Autentikasi &amp; Akun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4320540"/>
            <a:ext cx="3374136" cy="1028700"/>
            <a:chOff x="0" y="0"/>
            <a:chExt cx="4498848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8848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498848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Registrasi, login, pengajuan &amp; verifikasi provider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020056" y="2606040"/>
            <a:ext cx="3922776" cy="2948940"/>
            <a:chOff x="0" y="0"/>
            <a:chExt cx="5230368" cy="3931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0368" cy="3931920"/>
            </a:xfrm>
            <a:custGeom>
              <a:avLst/>
              <a:gdLst/>
              <a:ahLst/>
              <a:cxnLst/>
              <a:rect r="r" b="b" t="t" l="l"/>
              <a:pathLst>
                <a:path h="3931920" w="5230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02352" y="0"/>
                  </a:lnTo>
                  <a:cubicBezTo>
                    <a:pt x="5173091" y="0"/>
                    <a:pt x="5230368" y="57277"/>
                    <a:pt x="5230368" y="128016"/>
                  </a:cubicBezTo>
                  <a:lnTo>
                    <a:pt x="5230368" y="3803904"/>
                  </a:lnTo>
                  <a:cubicBezTo>
                    <a:pt x="5230368" y="3874643"/>
                    <a:pt x="5173091" y="3931920"/>
                    <a:pt x="5102352" y="3931920"/>
                  </a:cubicBezTo>
                  <a:lnTo>
                    <a:pt x="128016" y="3931920"/>
                  </a:lnTo>
                  <a:cubicBezTo>
                    <a:pt x="57277" y="3931920"/>
                    <a:pt x="0" y="3874643"/>
                    <a:pt x="0" y="380390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294376" y="2811780"/>
            <a:ext cx="1371600" cy="685800"/>
            <a:chOff x="0" y="0"/>
            <a:chExt cx="18288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828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94376" y="3566160"/>
            <a:ext cx="3374136" cy="754380"/>
            <a:chOff x="0" y="0"/>
            <a:chExt cx="4498848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988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1" r="0" b="-3715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49884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Katalog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294376" y="4320540"/>
            <a:ext cx="3374136" cy="1028700"/>
            <a:chOff x="0" y="0"/>
            <a:chExt cx="4498848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98848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498848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CRUD alat, multi-foto, stok, pencarian &amp; filter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17152" y="2606040"/>
            <a:ext cx="3922776" cy="2948940"/>
            <a:chOff x="0" y="0"/>
            <a:chExt cx="5230368" cy="3931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0368" cy="3931920"/>
            </a:xfrm>
            <a:custGeom>
              <a:avLst/>
              <a:gdLst/>
              <a:ahLst/>
              <a:cxnLst/>
              <a:rect r="r" b="b" t="t" l="l"/>
              <a:pathLst>
                <a:path h="3931920" w="5230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02352" y="0"/>
                  </a:lnTo>
                  <a:cubicBezTo>
                    <a:pt x="5173091" y="0"/>
                    <a:pt x="5230368" y="57277"/>
                    <a:pt x="5230368" y="128016"/>
                  </a:cubicBezTo>
                  <a:lnTo>
                    <a:pt x="5230368" y="3803904"/>
                  </a:lnTo>
                  <a:cubicBezTo>
                    <a:pt x="5230368" y="3874643"/>
                    <a:pt x="5173091" y="3931920"/>
                    <a:pt x="5102352" y="3931920"/>
                  </a:cubicBezTo>
                  <a:lnTo>
                    <a:pt x="128016" y="3931920"/>
                  </a:lnTo>
                  <a:cubicBezTo>
                    <a:pt x="57277" y="3931920"/>
                    <a:pt x="0" y="3874643"/>
                    <a:pt x="0" y="380390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91472" y="2811780"/>
            <a:ext cx="1371600" cy="685800"/>
            <a:chOff x="0" y="0"/>
            <a:chExt cx="18288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828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1472" y="3566160"/>
            <a:ext cx="3374136" cy="754380"/>
            <a:chOff x="0" y="0"/>
            <a:chExt cx="4498848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988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1" r="0" b="-371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49884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Matching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91472" y="4320540"/>
            <a:ext cx="3374136" cy="1028700"/>
            <a:chOff x="0" y="0"/>
            <a:chExt cx="4498848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98848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498848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 kebutuhan → AI parser → scoring → bundle paket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414248" y="2606040"/>
            <a:ext cx="3922776" cy="2948940"/>
            <a:chOff x="0" y="0"/>
            <a:chExt cx="5230368" cy="3931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30368" cy="3931920"/>
            </a:xfrm>
            <a:custGeom>
              <a:avLst/>
              <a:gdLst/>
              <a:ahLst/>
              <a:cxnLst/>
              <a:rect r="r" b="b" t="t" l="l"/>
              <a:pathLst>
                <a:path h="3931920" w="5230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02352" y="0"/>
                  </a:lnTo>
                  <a:cubicBezTo>
                    <a:pt x="5173091" y="0"/>
                    <a:pt x="5230368" y="57277"/>
                    <a:pt x="5230368" y="128016"/>
                  </a:cubicBezTo>
                  <a:lnTo>
                    <a:pt x="5230368" y="3803904"/>
                  </a:lnTo>
                  <a:cubicBezTo>
                    <a:pt x="5230368" y="3874643"/>
                    <a:pt x="5173091" y="3931920"/>
                    <a:pt x="5102352" y="3931920"/>
                  </a:cubicBezTo>
                  <a:lnTo>
                    <a:pt x="128016" y="3931920"/>
                  </a:lnTo>
                  <a:cubicBezTo>
                    <a:pt x="57277" y="3931920"/>
                    <a:pt x="0" y="3874643"/>
                    <a:pt x="0" y="380390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688568" y="2811780"/>
            <a:ext cx="1371600" cy="685800"/>
            <a:chOff x="0" y="0"/>
            <a:chExt cx="18288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1828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88568" y="3566160"/>
            <a:ext cx="3374136" cy="754380"/>
            <a:chOff x="0" y="0"/>
            <a:chExt cx="4498848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988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1" r="0" b="-3715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449884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Ketersediaan &amp; Booking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688568" y="4320540"/>
            <a:ext cx="3374136" cy="1028700"/>
            <a:chOff x="0" y="0"/>
            <a:chExt cx="4498848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98848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4498848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Sweep-line availability, keranjang, pembayaran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921508" y="5897880"/>
            <a:ext cx="3922776" cy="2948940"/>
            <a:chOff x="0" y="0"/>
            <a:chExt cx="5230368" cy="39319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30368" cy="3931920"/>
            </a:xfrm>
            <a:custGeom>
              <a:avLst/>
              <a:gdLst/>
              <a:ahLst/>
              <a:cxnLst/>
              <a:rect r="r" b="b" t="t" l="l"/>
              <a:pathLst>
                <a:path h="3931920" w="5230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02352" y="0"/>
                  </a:lnTo>
                  <a:cubicBezTo>
                    <a:pt x="5173091" y="0"/>
                    <a:pt x="5230368" y="57277"/>
                    <a:pt x="5230368" y="128016"/>
                  </a:cubicBezTo>
                  <a:lnTo>
                    <a:pt x="5230368" y="3803904"/>
                  </a:lnTo>
                  <a:cubicBezTo>
                    <a:pt x="5230368" y="3874643"/>
                    <a:pt x="5173091" y="3931920"/>
                    <a:pt x="5102352" y="3931920"/>
                  </a:cubicBezTo>
                  <a:lnTo>
                    <a:pt x="128016" y="3931920"/>
                  </a:lnTo>
                  <a:cubicBezTo>
                    <a:pt x="57277" y="3931920"/>
                    <a:pt x="0" y="3874643"/>
                    <a:pt x="0" y="380390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3195828" y="6103620"/>
            <a:ext cx="1371600" cy="685800"/>
            <a:chOff x="0" y="0"/>
            <a:chExt cx="18288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828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195828" y="6858000"/>
            <a:ext cx="3374136" cy="754380"/>
            <a:chOff x="0" y="0"/>
            <a:chExt cx="4498848" cy="1005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4988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1" r="0" b="-3715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449884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Serah Terima &amp; Kondisi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195828" y="7612380"/>
            <a:ext cx="3374136" cy="1028700"/>
            <a:chOff x="0" y="0"/>
            <a:chExt cx="4498848" cy="1371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98848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498848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Snapshot pre/post, AI inspection, usulan denda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118604" y="5897880"/>
            <a:ext cx="3922776" cy="2948940"/>
            <a:chOff x="0" y="0"/>
            <a:chExt cx="5230368" cy="39319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30368" cy="3931920"/>
            </a:xfrm>
            <a:custGeom>
              <a:avLst/>
              <a:gdLst/>
              <a:ahLst/>
              <a:cxnLst/>
              <a:rect r="r" b="b" t="t" l="l"/>
              <a:pathLst>
                <a:path h="3931920" w="5230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02352" y="0"/>
                  </a:lnTo>
                  <a:cubicBezTo>
                    <a:pt x="5173091" y="0"/>
                    <a:pt x="5230368" y="57277"/>
                    <a:pt x="5230368" y="128016"/>
                  </a:cubicBezTo>
                  <a:lnTo>
                    <a:pt x="5230368" y="3803904"/>
                  </a:lnTo>
                  <a:cubicBezTo>
                    <a:pt x="5230368" y="3874643"/>
                    <a:pt x="5173091" y="3931920"/>
                    <a:pt x="5102352" y="3931920"/>
                  </a:cubicBezTo>
                  <a:lnTo>
                    <a:pt x="128016" y="3931920"/>
                  </a:lnTo>
                  <a:cubicBezTo>
                    <a:pt x="57277" y="3931920"/>
                    <a:pt x="0" y="3874643"/>
                    <a:pt x="0" y="380390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392924" y="6103620"/>
            <a:ext cx="1371600" cy="685800"/>
            <a:chOff x="0" y="0"/>
            <a:chExt cx="18288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828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392924" y="6858000"/>
            <a:ext cx="3374136" cy="754380"/>
            <a:chOff x="0" y="0"/>
            <a:chExt cx="4498848" cy="1005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988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1" r="0" b="-3715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49884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Reputasi &amp; Pelaporan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392924" y="7612380"/>
            <a:ext cx="3374136" cy="1028700"/>
            <a:chOff x="0" y="0"/>
            <a:chExt cx="4498848" cy="1371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98848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498848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Review, rating, skor kondisi historis, dispute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315700" y="5897880"/>
            <a:ext cx="3922776" cy="2948940"/>
            <a:chOff x="0" y="0"/>
            <a:chExt cx="5230368" cy="39319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30368" cy="3931920"/>
            </a:xfrm>
            <a:custGeom>
              <a:avLst/>
              <a:gdLst/>
              <a:ahLst/>
              <a:cxnLst/>
              <a:rect r="r" b="b" t="t" l="l"/>
              <a:pathLst>
                <a:path h="3931920" w="5230368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102352" y="0"/>
                  </a:lnTo>
                  <a:cubicBezTo>
                    <a:pt x="5173091" y="0"/>
                    <a:pt x="5230368" y="57277"/>
                    <a:pt x="5230368" y="128016"/>
                  </a:cubicBezTo>
                  <a:lnTo>
                    <a:pt x="5230368" y="3803904"/>
                  </a:lnTo>
                  <a:cubicBezTo>
                    <a:pt x="5230368" y="3874643"/>
                    <a:pt x="5173091" y="3931920"/>
                    <a:pt x="5102352" y="3931920"/>
                  </a:cubicBezTo>
                  <a:lnTo>
                    <a:pt x="128016" y="3931920"/>
                  </a:lnTo>
                  <a:cubicBezTo>
                    <a:pt x="57277" y="3931920"/>
                    <a:pt x="0" y="3874643"/>
                    <a:pt x="0" y="380390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590020" y="6103620"/>
            <a:ext cx="1371600" cy="685800"/>
            <a:chOff x="0" y="0"/>
            <a:chExt cx="18288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28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1828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590020" y="6858000"/>
            <a:ext cx="3374136" cy="754380"/>
            <a:chOff x="0" y="0"/>
            <a:chExt cx="4498848" cy="10058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98848" cy="1005840"/>
            </a:xfrm>
            <a:custGeom>
              <a:avLst/>
              <a:gdLst/>
              <a:ahLst/>
              <a:cxnLst/>
              <a:rect r="r" b="b" t="t" l="l"/>
              <a:pathLst>
                <a:path h="100584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1" r="0" b="-3715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4498848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590020" y="7612380"/>
            <a:ext cx="3374136" cy="1028700"/>
            <a:chOff x="0" y="0"/>
            <a:chExt cx="4498848" cy="1371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98848" cy="1371600"/>
            </a:xfrm>
            <a:custGeom>
              <a:avLst/>
              <a:gdLst/>
              <a:ahLst/>
              <a:cxnLst/>
              <a:rect r="r" b="b" t="t" l="l"/>
              <a:pathLst>
                <a:path h="1371600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4498848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Dashboard, verifikasi, antrean AI, audit log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SEBAGAI ADVISOR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di tepi sistem, bukan di jalur kritis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7543800" cy="3497580"/>
            <a:chOff x="0" y="0"/>
            <a:chExt cx="10058400" cy="466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058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912096" y="0"/>
                  </a:lnTo>
                  <a:cubicBezTo>
                    <a:pt x="9992868" y="0"/>
                    <a:pt x="10058400" y="65532"/>
                    <a:pt x="10058400" y="146304"/>
                  </a:cubicBezTo>
                  <a:lnTo>
                    <a:pt x="10058400" y="4517136"/>
                  </a:lnTo>
                  <a:cubicBezTo>
                    <a:pt x="10058400" y="4597908"/>
                    <a:pt x="9992868" y="4663440"/>
                    <a:pt x="991209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743200"/>
            <a:ext cx="6858000" cy="411480"/>
            <a:chOff x="0" y="0"/>
            <a:chExt cx="91440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PRINSIP DESAIN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3223260"/>
            <a:ext cx="6858000" cy="2674620"/>
            <a:chOff x="0" y="0"/>
            <a:chExt cx="9144000" cy="3566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3566160"/>
            </a:xfrm>
            <a:custGeom>
              <a:avLst/>
              <a:gdLst/>
              <a:ahLst/>
              <a:cxnLst/>
              <a:rect r="r" b="b" t="t" l="l"/>
              <a:pathLst>
                <a:path h="3566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566160"/>
                  </a:lnTo>
                  <a:lnTo>
                    <a:pt x="0" y="3566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" t="0" r="-3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144000" cy="3632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380"/>
                </a:lnSpc>
                <a:buFont typeface="Arial"/>
                <a:buChar char="•"/>
              </a:pPr>
              <a:r>
                <a:rPr lang="en-US" sz="17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tidak pernah jadi sumber kebenaran data — stok/harga/tanggal selalu dari DB</a:t>
              </a:r>
            </a:p>
            <a:p>
              <a:pPr algn="l" marL="312182" indent="-156091" lvl="1">
                <a:lnSpc>
                  <a:spcPts val="2380"/>
                </a:lnSpc>
                <a:buFont typeface="Arial"/>
                <a:buChar char="•"/>
              </a:pPr>
              <a:r>
                <a:rPr lang="en-US" sz="17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Jika Gemini down, aplikasi tetap jalan penuh lewat fallback deterministik</a:t>
              </a:r>
            </a:p>
            <a:p>
              <a:pPr algn="l" marL="312182" indent="-156091" lvl="1">
                <a:lnSpc>
                  <a:spcPts val="2380"/>
                </a:lnSpc>
                <a:buFont typeface="Arial"/>
                <a:buChar char="•"/>
              </a:pPr>
              <a:r>
                <a:rPr lang="en-US" sz="17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 AI selalu JSON terstruktur &amp; tervalidasi sebelum masuk sistem</a:t>
              </a:r>
            </a:p>
            <a:p>
              <a:pPr algn="l" marL="312182" indent="-156091" lvl="1">
                <a:lnSpc>
                  <a:spcPts val="2380"/>
                </a:lnSpc>
                <a:buFont typeface="Arial"/>
                <a:buChar char="•"/>
              </a:pPr>
              <a:r>
                <a:rPr lang="en-US" sz="17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Setiap output AI berdampak finansial wajib melalui manusia (pending_review)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09660" y="2537460"/>
            <a:ext cx="8709660" cy="3497580"/>
            <a:chOff x="0" y="0"/>
            <a:chExt cx="11612880" cy="466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128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1612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466576" y="0"/>
                  </a:lnTo>
                  <a:cubicBezTo>
                    <a:pt x="11547348" y="0"/>
                    <a:pt x="11612880" y="65532"/>
                    <a:pt x="11612880" y="146304"/>
                  </a:cubicBezTo>
                  <a:lnTo>
                    <a:pt x="11612880" y="4517136"/>
                  </a:lnTo>
                  <a:cubicBezTo>
                    <a:pt x="11612880" y="4597908"/>
                    <a:pt x="11547348" y="4663440"/>
                    <a:pt x="114665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052560" y="2743200"/>
            <a:ext cx="8092440" cy="411480"/>
            <a:chOff x="0" y="0"/>
            <a:chExt cx="1078992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89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789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#1 — PAHAMI KEBUTUHAN (AI TIDAK LANGSUNG PILIH ALAT)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52560" y="3497580"/>
            <a:ext cx="1851660" cy="1508760"/>
            <a:chOff x="0" y="0"/>
            <a:chExt cx="246888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68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68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359152" y="0"/>
                  </a:lnTo>
                  <a:cubicBezTo>
                    <a:pt x="2419731" y="0"/>
                    <a:pt x="2468880" y="49149"/>
                    <a:pt x="2468880" y="109728"/>
                  </a:cubicBezTo>
                  <a:lnTo>
                    <a:pt x="2468880" y="1901952"/>
                  </a:lnTo>
                  <a:cubicBezTo>
                    <a:pt x="2468880" y="1962531"/>
                    <a:pt x="2419731" y="2011680"/>
                    <a:pt x="2359152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21140" y="3497580"/>
            <a:ext cx="1714500" cy="1508760"/>
            <a:chOff x="0" y="0"/>
            <a:chExt cx="228600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907" t="0" r="-6290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28600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Baca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Kalimat User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63072" y="3497580"/>
            <a:ext cx="329184" cy="1508760"/>
            <a:chOff x="0" y="0"/>
            <a:chExt cx="438912" cy="2011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" cy="2011680"/>
            </a:xfrm>
            <a:custGeom>
              <a:avLst/>
              <a:gdLst/>
              <a:ahLst/>
              <a:cxnLst/>
              <a:rect r="r" b="b" t="t" l="l"/>
              <a:pathLst>
                <a:path h="20116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8058" t="0" r="-53805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38912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51108" y="3497580"/>
            <a:ext cx="1851660" cy="1508760"/>
            <a:chOff x="0" y="0"/>
            <a:chExt cx="2468880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68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68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359152" y="0"/>
                  </a:lnTo>
                  <a:cubicBezTo>
                    <a:pt x="2419731" y="0"/>
                    <a:pt x="2468880" y="49149"/>
                    <a:pt x="2468880" y="109728"/>
                  </a:cubicBezTo>
                  <a:lnTo>
                    <a:pt x="2468880" y="1901952"/>
                  </a:lnTo>
                  <a:cubicBezTo>
                    <a:pt x="2468880" y="1962531"/>
                    <a:pt x="2419731" y="2011680"/>
                    <a:pt x="2359152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219688" y="3497580"/>
            <a:ext cx="1714500" cy="1508760"/>
            <a:chOff x="0" y="0"/>
            <a:chExt cx="2286000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6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907" t="0" r="-6290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28600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Aturan Tentukan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Jenis Alat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61620" y="3497580"/>
            <a:ext cx="329184" cy="1508760"/>
            <a:chOff x="0" y="0"/>
            <a:chExt cx="438912" cy="2011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" cy="2011680"/>
            </a:xfrm>
            <a:custGeom>
              <a:avLst/>
              <a:gdLst/>
              <a:ahLst/>
              <a:cxnLst/>
              <a:rect r="r" b="b" t="t" l="l"/>
              <a:pathLst>
                <a:path h="20116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8058" t="0" r="-53805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38912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49656" y="3497580"/>
            <a:ext cx="1851660" cy="1508760"/>
            <a:chOff x="0" y="0"/>
            <a:chExt cx="2468880" cy="2011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68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68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359152" y="0"/>
                  </a:lnTo>
                  <a:cubicBezTo>
                    <a:pt x="2419731" y="0"/>
                    <a:pt x="2468880" y="49149"/>
                    <a:pt x="2468880" y="109728"/>
                  </a:cubicBezTo>
                  <a:lnTo>
                    <a:pt x="2468880" y="1901952"/>
                  </a:lnTo>
                  <a:cubicBezTo>
                    <a:pt x="2468880" y="1962531"/>
                    <a:pt x="2419731" y="2011680"/>
                    <a:pt x="2359152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318236" y="3497580"/>
            <a:ext cx="1714500" cy="1508760"/>
            <a:chOff x="0" y="0"/>
            <a:chExt cx="2286000" cy="2011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6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907" t="0" r="-6290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28600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Hitung Skor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Alat (ALG-1)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060168" y="3497580"/>
            <a:ext cx="329184" cy="1508760"/>
            <a:chOff x="0" y="0"/>
            <a:chExt cx="438912" cy="2011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912" cy="2011680"/>
            </a:xfrm>
            <a:custGeom>
              <a:avLst/>
              <a:gdLst/>
              <a:ahLst/>
              <a:cxnLst/>
              <a:rect r="r" b="b" t="t" l="l"/>
              <a:pathLst>
                <a:path h="20116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8058" t="0" r="-538058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38912" cy="2059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348204" y="3497580"/>
            <a:ext cx="1851660" cy="1508760"/>
            <a:chOff x="0" y="0"/>
            <a:chExt cx="2468880" cy="2011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68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688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359152" y="0"/>
                  </a:lnTo>
                  <a:cubicBezTo>
                    <a:pt x="2419731" y="0"/>
                    <a:pt x="2468880" y="49149"/>
                    <a:pt x="2468880" y="109728"/>
                  </a:cubicBezTo>
                  <a:lnTo>
                    <a:pt x="2468880" y="1901952"/>
                  </a:lnTo>
                  <a:cubicBezTo>
                    <a:pt x="2468880" y="1962531"/>
                    <a:pt x="2419731" y="2011680"/>
                    <a:pt x="2359152" y="2011680"/>
                  </a:cubicBezTo>
                  <a:lnTo>
                    <a:pt x="109728" y="2011680"/>
                  </a:lnTo>
                  <a:cubicBezTo>
                    <a:pt x="49149" y="2011680"/>
                    <a:pt x="0" y="1962531"/>
                    <a:pt x="0" y="1901952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416784" y="3497580"/>
            <a:ext cx="1714500" cy="1508760"/>
            <a:chOff x="0" y="0"/>
            <a:chExt cx="2286000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86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907" t="0" r="-6290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28600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Susun Paket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Sesuai Budget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52560" y="5280660"/>
            <a:ext cx="8092440" cy="685800"/>
            <a:chOff x="0" y="0"/>
            <a:chExt cx="1078992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789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500" i="true">
                  <a:solidFill>
                    <a:srgbClr val="D7E5C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Kalau AI langsung pilih alat, AI bisa "mengarang" alat yang tidak ada di toko. Karena itu langkah 2–4 dihitung sistem, bukan AI, jadi hasilnya pasti dan bisa dicek.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6309360"/>
            <a:ext cx="16596360" cy="2880360"/>
            <a:chOff x="0" y="0"/>
            <a:chExt cx="22128480" cy="38404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28480" cy="3840480"/>
            </a:xfrm>
            <a:custGeom>
              <a:avLst/>
              <a:gdLst/>
              <a:ahLst/>
              <a:cxnLst/>
              <a:rect r="r" b="b" t="t" l="l"/>
              <a:pathLst>
                <a:path h="3840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694176"/>
                  </a:lnTo>
                  <a:cubicBezTo>
                    <a:pt x="22128480" y="3774948"/>
                    <a:pt x="22062948" y="3840480"/>
                    <a:pt x="2198217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FBEED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65860" y="6515100"/>
            <a:ext cx="15773400" cy="411480"/>
            <a:chOff x="0" y="0"/>
            <a:chExt cx="210312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1031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8A4A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#2 — PERIKSA FOTO KONDISI ALAT: 4 PENGAMAN SUPAYA AI TIDAK DISALAHGUNAKAN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57300" y="7061835"/>
            <a:ext cx="749808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8A4A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 terlalu buram  </a:t>
            </a:r>
            <a:r>
              <a:rPr lang="en-US" sz="1650">
                <a:solidFill>
                  <a:srgbClr val="20291D"/>
                </a:solidFill>
                <a:latin typeface="Calibri (MS)"/>
                <a:ea typeface="Calibri (MS)"/>
                <a:cs typeface="Calibri (MS)"/>
                <a:sym typeface="Calibri (MS)"/>
              </a:rPr>
              <a:t>→ hasil ditandai tidak dapat dipakai, minta foto ulang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349740" y="7061835"/>
            <a:ext cx="749808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8A4A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kurang yakin (di bawah 60%)  </a:t>
            </a:r>
            <a:r>
              <a:rPr lang="en-US" sz="1650">
                <a:solidFill>
                  <a:srgbClr val="20291D"/>
                </a:solidFill>
                <a:latin typeface="Calibri (MS)"/>
                <a:ea typeface="Calibri (MS)"/>
                <a:cs typeface="Calibri (MS)"/>
                <a:sym typeface="Calibri (MS)"/>
              </a:rPr>
              <a:t>→ wajib dua manusia (provider + admin) menyetujui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57300" y="8021955"/>
            <a:ext cx="749808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8A4A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tidak pernah tahu harga/deposit  </a:t>
            </a:r>
            <a:r>
              <a:rPr lang="en-US" sz="1650">
                <a:solidFill>
                  <a:srgbClr val="20291D"/>
                </a:solidFill>
                <a:latin typeface="Calibri (MS)"/>
                <a:ea typeface="Calibri (MS)"/>
                <a:cs typeface="Calibri (MS)"/>
                <a:sym typeface="Calibri (MS)"/>
              </a:rPr>
              <a:t>→ tidak mungkin AI sarankan nominal denda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49740" y="8021955"/>
            <a:ext cx="749808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 b="true">
                <a:solidFill>
                  <a:srgbClr val="8A4A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Setiap pemakaian AI tercatat  </a:t>
            </a:r>
            <a:r>
              <a:rPr lang="en-US" sz="1650">
                <a:solidFill>
                  <a:srgbClr val="20291D"/>
                </a:solidFill>
                <a:latin typeface="Calibri (MS)"/>
                <a:ea typeface="Calibri (MS)"/>
                <a:cs typeface="Calibri (MS)"/>
                <a:sym typeface="Calibri (MS)"/>
              </a:rPr>
              <a:t>→ bisa ditelusuri dan diperiksa ulang kapan saja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ALGORITMA INTI #1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ALG-1: Smart Rental Matching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21992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 cari alat paling cocok lewat 4 langkah: Tentukan Kebutuhan → Buang yang Tidak Mungkin → Hitung Skor → Susun Paket Sesuai Budget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948940"/>
            <a:ext cx="7680960" cy="411480"/>
            <a:chOff x="0" y="0"/>
            <a:chExt cx="1024128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241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5B6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SEBERAPA PENTING TIAP KRITERIA (dihitung pakai metode AHP, teruji konsisten)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3497580"/>
            <a:ext cx="2331720" cy="466344"/>
            <a:chOff x="0" y="0"/>
            <a:chExt cx="3108960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08960" cy="621792"/>
            </a:xfrm>
            <a:custGeom>
              <a:avLst/>
              <a:gdLst/>
              <a:ahLst/>
              <a:cxnLst/>
              <a:rect r="r" b="b" t="t" l="l"/>
              <a:pathLst>
                <a:path h="62179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1089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Cocok budget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54680" y="3552444"/>
            <a:ext cx="5349240" cy="356616"/>
            <a:chOff x="0" y="0"/>
            <a:chExt cx="7132320" cy="4754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475488"/>
            </a:xfrm>
            <a:custGeom>
              <a:avLst/>
              <a:gdLst/>
              <a:ahLst/>
              <a:cxnLst/>
              <a:rect r="r" b="b" t="t" l="l"/>
              <a:pathLst>
                <a:path h="475488" w="71323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7077456" y="0"/>
                  </a:lnTo>
                  <a:cubicBezTo>
                    <a:pt x="7107810" y="0"/>
                    <a:pt x="7132320" y="24511"/>
                    <a:pt x="7132320" y="54864"/>
                  </a:cubicBezTo>
                  <a:lnTo>
                    <a:pt x="7132320" y="420624"/>
                  </a:lnTo>
                  <a:cubicBezTo>
                    <a:pt x="7132320" y="450977"/>
                    <a:pt x="7107810" y="475488"/>
                    <a:pt x="70774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E4EBD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154680" y="3552444"/>
            <a:ext cx="5126355" cy="356616"/>
            <a:chOff x="0" y="0"/>
            <a:chExt cx="6835140" cy="4754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35140" cy="475488"/>
            </a:xfrm>
            <a:custGeom>
              <a:avLst/>
              <a:gdLst/>
              <a:ahLst/>
              <a:cxnLst/>
              <a:rect r="r" b="b" t="t" l="l"/>
              <a:pathLst>
                <a:path h="475488" w="683514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780276" y="0"/>
                  </a:lnTo>
                  <a:cubicBezTo>
                    <a:pt x="6810629" y="0"/>
                    <a:pt x="6835140" y="24511"/>
                    <a:pt x="6835140" y="54864"/>
                  </a:cubicBezTo>
                  <a:lnTo>
                    <a:pt x="6835140" y="420624"/>
                  </a:lnTo>
                  <a:cubicBezTo>
                    <a:pt x="6835140" y="450977"/>
                    <a:pt x="6810629" y="475488"/>
                    <a:pt x="678027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72500" y="3497580"/>
            <a:ext cx="754380" cy="466344"/>
            <a:chOff x="0" y="0"/>
            <a:chExt cx="1005840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14" t="0" r="-2931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058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,23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4073652"/>
            <a:ext cx="2331720" cy="466344"/>
            <a:chOff x="0" y="0"/>
            <a:chExt cx="3108960" cy="6217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08960" cy="621792"/>
            </a:xfrm>
            <a:custGeom>
              <a:avLst/>
              <a:gdLst/>
              <a:ahLst/>
              <a:cxnLst/>
              <a:rect r="r" b="b" t="t" l="l"/>
              <a:pathLst>
                <a:path h="62179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089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Cocok kapasitas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154680" y="4128516"/>
            <a:ext cx="5349240" cy="356616"/>
            <a:chOff x="0" y="0"/>
            <a:chExt cx="7132320" cy="4754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32320" cy="475488"/>
            </a:xfrm>
            <a:custGeom>
              <a:avLst/>
              <a:gdLst/>
              <a:ahLst/>
              <a:cxnLst/>
              <a:rect r="r" b="b" t="t" l="l"/>
              <a:pathLst>
                <a:path h="475488" w="71323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7077456" y="0"/>
                  </a:lnTo>
                  <a:cubicBezTo>
                    <a:pt x="7107810" y="0"/>
                    <a:pt x="7132320" y="24511"/>
                    <a:pt x="7132320" y="54864"/>
                  </a:cubicBezTo>
                  <a:lnTo>
                    <a:pt x="7132320" y="420624"/>
                  </a:lnTo>
                  <a:cubicBezTo>
                    <a:pt x="7132320" y="450977"/>
                    <a:pt x="7107810" y="475488"/>
                    <a:pt x="70774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E4EB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154680" y="4128516"/>
            <a:ext cx="5349240" cy="356616"/>
            <a:chOff x="0" y="0"/>
            <a:chExt cx="7132320" cy="4754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32320" cy="475488"/>
            </a:xfrm>
            <a:custGeom>
              <a:avLst/>
              <a:gdLst/>
              <a:ahLst/>
              <a:cxnLst/>
              <a:rect r="r" b="b" t="t" l="l"/>
              <a:pathLst>
                <a:path h="475488" w="71323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7077456" y="0"/>
                  </a:lnTo>
                  <a:cubicBezTo>
                    <a:pt x="7107810" y="0"/>
                    <a:pt x="7132320" y="24511"/>
                    <a:pt x="7132320" y="54864"/>
                  </a:cubicBezTo>
                  <a:lnTo>
                    <a:pt x="7132320" y="420624"/>
                  </a:lnTo>
                  <a:cubicBezTo>
                    <a:pt x="7132320" y="450977"/>
                    <a:pt x="7107810" y="475488"/>
                    <a:pt x="70774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72500" y="4073652"/>
            <a:ext cx="754380" cy="466344"/>
            <a:chOff x="0" y="0"/>
            <a:chExt cx="1005840" cy="621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14" t="0" r="-29314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058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,24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4649724"/>
            <a:ext cx="2331720" cy="466344"/>
            <a:chOff x="0" y="0"/>
            <a:chExt cx="3108960" cy="621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08960" cy="621792"/>
            </a:xfrm>
            <a:custGeom>
              <a:avLst/>
              <a:gdLst/>
              <a:ahLst/>
              <a:cxnLst/>
              <a:rect r="r" b="b" t="t" l="l"/>
              <a:pathLst>
                <a:path h="62179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1089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Jarak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54680" y="4704588"/>
            <a:ext cx="5349240" cy="356616"/>
            <a:chOff x="0" y="0"/>
            <a:chExt cx="7132320" cy="4754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32320" cy="475488"/>
            </a:xfrm>
            <a:custGeom>
              <a:avLst/>
              <a:gdLst/>
              <a:ahLst/>
              <a:cxnLst/>
              <a:rect r="r" b="b" t="t" l="l"/>
              <a:pathLst>
                <a:path h="475488" w="71323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7077456" y="0"/>
                  </a:lnTo>
                  <a:cubicBezTo>
                    <a:pt x="7107810" y="0"/>
                    <a:pt x="7132320" y="24511"/>
                    <a:pt x="7132320" y="54864"/>
                  </a:cubicBezTo>
                  <a:lnTo>
                    <a:pt x="7132320" y="420624"/>
                  </a:lnTo>
                  <a:cubicBezTo>
                    <a:pt x="7132320" y="450977"/>
                    <a:pt x="7107810" y="475488"/>
                    <a:pt x="70774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E4EBD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154680" y="4704588"/>
            <a:ext cx="4011930" cy="356616"/>
            <a:chOff x="0" y="0"/>
            <a:chExt cx="5349240" cy="4754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9240" cy="475488"/>
            </a:xfrm>
            <a:custGeom>
              <a:avLst/>
              <a:gdLst/>
              <a:ahLst/>
              <a:cxnLst/>
              <a:rect r="r" b="b" t="t" l="l"/>
              <a:pathLst>
                <a:path h="475488" w="534924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5294376" y="0"/>
                  </a:lnTo>
                  <a:cubicBezTo>
                    <a:pt x="5324729" y="0"/>
                    <a:pt x="5349240" y="24511"/>
                    <a:pt x="5349240" y="54864"/>
                  </a:cubicBezTo>
                  <a:lnTo>
                    <a:pt x="5349240" y="420624"/>
                  </a:lnTo>
                  <a:cubicBezTo>
                    <a:pt x="5349240" y="450977"/>
                    <a:pt x="5324729" y="475488"/>
                    <a:pt x="529437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572500" y="4649724"/>
            <a:ext cx="754380" cy="466344"/>
            <a:chOff x="0" y="0"/>
            <a:chExt cx="1005840" cy="6217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14" t="0" r="-2931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058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,18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5225796"/>
            <a:ext cx="2331720" cy="466344"/>
            <a:chOff x="0" y="0"/>
            <a:chExt cx="3108960" cy="621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08960" cy="621792"/>
            </a:xfrm>
            <a:custGeom>
              <a:avLst/>
              <a:gdLst/>
              <a:ahLst/>
              <a:cxnLst/>
              <a:rect r="r" b="b" t="t" l="l"/>
              <a:pathLst>
                <a:path h="62179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1089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Rating provider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154680" y="5280660"/>
            <a:ext cx="5349240" cy="356616"/>
            <a:chOff x="0" y="0"/>
            <a:chExt cx="7132320" cy="4754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32320" cy="475488"/>
            </a:xfrm>
            <a:custGeom>
              <a:avLst/>
              <a:gdLst/>
              <a:ahLst/>
              <a:cxnLst/>
              <a:rect r="r" b="b" t="t" l="l"/>
              <a:pathLst>
                <a:path h="475488" w="71323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7077456" y="0"/>
                  </a:lnTo>
                  <a:cubicBezTo>
                    <a:pt x="7107810" y="0"/>
                    <a:pt x="7132320" y="24511"/>
                    <a:pt x="7132320" y="54864"/>
                  </a:cubicBezTo>
                  <a:lnTo>
                    <a:pt x="7132320" y="420624"/>
                  </a:lnTo>
                  <a:cubicBezTo>
                    <a:pt x="7132320" y="450977"/>
                    <a:pt x="7107810" y="475488"/>
                    <a:pt x="70774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E4EBD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154680" y="5280660"/>
            <a:ext cx="3120390" cy="356616"/>
            <a:chOff x="0" y="0"/>
            <a:chExt cx="4160520" cy="4754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0520" cy="475488"/>
            </a:xfrm>
            <a:custGeom>
              <a:avLst/>
              <a:gdLst/>
              <a:ahLst/>
              <a:cxnLst/>
              <a:rect r="r" b="b" t="t" l="l"/>
              <a:pathLst>
                <a:path h="475488" w="41605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4105656" y="0"/>
                  </a:lnTo>
                  <a:cubicBezTo>
                    <a:pt x="4136009" y="0"/>
                    <a:pt x="4160520" y="24511"/>
                    <a:pt x="4160520" y="54864"/>
                  </a:cubicBezTo>
                  <a:lnTo>
                    <a:pt x="4160520" y="420624"/>
                  </a:lnTo>
                  <a:cubicBezTo>
                    <a:pt x="4160520" y="450977"/>
                    <a:pt x="4136009" y="475488"/>
                    <a:pt x="41056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572500" y="5225796"/>
            <a:ext cx="754380" cy="466344"/>
            <a:chOff x="0" y="0"/>
            <a:chExt cx="1005840" cy="6217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58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14" t="0" r="-2931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058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,14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5801868"/>
            <a:ext cx="2331720" cy="466344"/>
            <a:chOff x="0" y="0"/>
            <a:chExt cx="310896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08960" cy="621792"/>
            </a:xfrm>
            <a:custGeom>
              <a:avLst/>
              <a:gdLst/>
              <a:ahLst/>
              <a:cxnLst/>
              <a:rect r="r" b="b" t="t" l="l"/>
              <a:pathLst>
                <a:path h="62179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1089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Kondisi alat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154680" y="5856732"/>
            <a:ext cx="5349240" cy="356616"/>
            <a:chOff x="0" y="0"/>
            <a:chExt cx="7132320" cy="4754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32320" cy="475488"/>
            </a:xfrm>
            <a:custGeom>
              <a:avLst/>
              <a:gdLst/>
              <a:ahLst/>
              <a:cxnLst/>
              <a:rect r="r" b="b" t="t" l="l"/>
              <a:pathLst>
                <a:path h="475488" w="71323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7077456" y="0"/>
                  </a:lnTo>
                  <a:cubicBezTo>
                    <a:pt x="7107810" y="0"/>
                    <a:pt x="7132320" y="24511"/>
                    <a:pt x="7132320" y="54864"/>
                  </a:cubicBezTo>
                  <a:lnTo>
                    <a:pt x="7132320" y="420624"/>
                  </a:lnTo>
                  <a:cubicBezTo>
                    <a:pt x="7132320" y="450977"/>
                    <a:pt x="7107810" y="475488"/>
                    <a:pt x="70774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E4EBD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154680" y="5856732"/>
            <a:ext cx="3120390" cy="356616"/>
            <a:chOff x="0" y="0"/>
            <a:chExt cx="4160520" cy="4754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60520" cy="475488"/>
            </a:xfrm>
            <a:custGeom>
              <a:avLst/>
              <a:gdLst/>
              <a:ahLst/>
              <a:cxnLst/>
              <a:rect r="r" b="b" t="t" l="l"/>
              <a:pathLst>
                <a:path h="475488" w="41605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4105656" y="0"/>
                  </a:lnTo>
                  <a:cubicBezTo>
                    <a:pt x="4136009" y="0"/>
                    <a:pt x="4160520" y="24511"/>
                    <a:pt x="4160520" y="54864"/>
                  </a:cubicBezTo>
                  <a:lnTo>
                    <a:pt x="4160520" y="420624"/>
                  </a:lnTo>
                  <a:cubicBezTo>
                    <a:pt x="4160520" y="450977"/>
                    <a:pt x="4136009" y="475488"/>
                    <a:pt x="41056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572500" y="5801868"/>
            <a:ext cx="754380" cy="466344"/>
            <a:chOff x="0" y="0"/>
            <a:chExt cx="1005840" cy="6217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058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14" t="0" r="-29314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0058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,14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6377940"/>
            <a:ext cx="2331720" cy="466344"/>
            <a:chOff x="0" y="0"/>
            <a:chExt cx="3108960" cy="621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08960" cy="621792"/>
            </a:xfrm>
            <a:custGeom>
              <a:avLst/>
              <a:gdLst/>
              <a:ahLst/>
              <a:cxnLst/>
              <a:rect r="r" b="b" t="t" l="l"/>
              <a:pathLst>
                <a:path h="62179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1089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Cocok durasi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154680" y="6432804"/>
            <a:ext cx="5349240" cy="356616"/>
            <a:chOff x="0" y="0"/>
            <a:chExt cx="7132320" cy="4754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132320" cy="475488"/>
            </a:xfrm>
            <a:custGeom>
              <a:avLst/>
              <a:gdLst/>
              <a:ahLst/>
              <a:cxnLst/>
              <a:rect r="r" b="b" t="t" l="l"/>
              <a:pathLst>
                <a:path h="475488" w="713232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7077456" y="0"/>
                  </a:lnTo>
                  <a:cubicBezTo>
                    <a:pt x="7107810" y="0"/>
                    <a:pt x="7132320" y="24511"/>
                    <a:pt x="7132320" y="54864"/>
                  </a:cubicBezTo>
                  <a:lnTo>
                    <a:pt x="7132320" y="420624"/>
                  </a:lnTo>
                  <a:cubicBezTo>
                    <a:pt x="7132320" y="450977"/>
                    <a:pt x="7107810" y="475488"/>
                    <a:pt x="707745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E4EBD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3154680" y="6432804"/>
            <a:ext cx="1560195" cy="356616"/>
            <a:chOff x="0" y="0"/>
            <a:chExt cx="2080260" cy="4754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80260" cy="475488"/>
            </a:xfrm>
            <a:custGeom>
              <a:avLst/>
              <a:gdLst/>
              <a:ahLst/>
              <a:cxnLst/>
              <a:rect r="r" b="b" t="t" l="l"/>
              <a:pathLst>
                <a:path h="475488" w="208026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025396" y="0"/>
                  </a:lnTo>
                  <a:cubicBezTo>
                    <a:pt x="2055749" y="0"/>
                    <a:pt x="2080260" y="24511"/>
                    <a:pt x="2080260" y="54864"/>
                  </a:cubicBezTo>
                  <a:lnTo>
                    <a:pt x="2080260" y="420624"/>
                  </a:lnTo>
                  <a:cubicBezTo>
                    <a:pt x="2080260" y="450977"/>
                    <a:pt x="2055749" y="475488"/>
                    <a:pt x="2025396" y="475488"/>
                  </a:cubicBezTo>
                  <a:lnTo>
                    <a:pt x="54864" y="475488"/>
                  </a:lnTo>
                  <a:cubicBezTo>
                    <a:pt x="24511" y="475488"/>
                    <a:pt x="0" y="450977"/>
                    <a:pt x="0" y="42062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572500" y="6377940"/>
            <a:ext cx="754380" cy="466344"/>
            <a:chOff x="0" y="0"/>
            <a:chExt cx="1005840" cy="6217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058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14" t="0" r="-29314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0058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,07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052560" y="2948940"/>
            <a:ext cx="8366760" cy="411480"/>
            <a:chOff x="0" y="0"/>
            <a:chExt cx="1115568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111556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5B6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CONTOH: 4 orang · 2 hari · Gunung Prau · budget Rp500rb</a:t>
              </a:r>
            </a:p>
          </p:txBody>
        </p:sp>
      </p:grpSp>
      <p:graphicFrame>
        <p:nvGraphicFramePr>
          <p:cNvPr name="Table 77" id="77"/>
          <p:cNvGraphicFramePr>
            <a:graphicFrameLocks noGrp="true"/>
          </p:cNvGraphicFramePr>
          <p:nvPr/>
        </p:nvGraphicFramePr>
        <p:xfrm>
          <a:off x="9052560" y="3429000"/>
          <a:ext cx="8343900" cy="3086100"/>
        </p:xfrm>
        <a:graphic>
          <a:graphicData uri="http://schemas.openxmlformats.org/drawingml/2006/table">
            <a:tbl>
              <a:tblPr/>
              <a:tblGrid>
                <a:gridCol w="2052087"/>
                <a:gridCol w="2092753"/>
                <a:gridCol w="2092753"/>
                <a:gridCol w="2106308"/>
              </a:tblGrid>
              <a:tr h="514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 · Eiger 4P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 · Consina 6P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1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 · Lokal 4P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1E"/>
                    </a:solidFill>
                  </a:tcPr>
                </a:tc>
              </a:tr>
              <a:tr h="514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029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Harga/hari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25.000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</a:tr>
              <a:tr h="514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029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Jarak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 km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 km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 km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029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Rating (v)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4,8 (50)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4,5 (8)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5,0 (1)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2"/>
                    </a:solidFill>
                  </a:tcPr>
                </a:tc>
              </a:tr>
              <a:tr h="514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029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Kondisi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91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029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Skor Akhir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C5F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94,49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C5F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72,98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2C5F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70,07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4"/>
                    </a:solidFill>
                  </a:tcPr>
                </a:tc>
              </a:tr>
            </a:tbl>
          </a:graphicData>
        </a:graphic>
      </p:graphicFrame>
      <p:grpSp>
        <p:nvGrpSpPr>
          <p:cNvPr name="Group 78" id="78"/>
          <p:cNvGrpSpPr/>
          <p:nvPr/>
        </p:nvGrpSpPr>
        <p:grpSpPr>
          <a:xfrm rot="0">
            <a:off x="9052560" y="6789420"/>
            <a:ext cx="8366760" cy="685800"/>
            <a:chOff x="0" y="0"/>
            <a:chExt cx="11155680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55680" cy="914400"/>
            </a:xfrm>
            <a:custGeom>
              <a:avLst/>
              <a:gdLst/>
              <a:ahLst/>
              <a:cxnLst/>
              <a:rect r="r" b="b" t="t" l="l"/>
              <a:pathLst>
                <a:path h="91440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717" r="0" b="-18771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11556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b="true" sz="1575" i="true">
                  <a:solidFill>
                    <a:srgbClr val="D97B29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Peringkat: A (94,5) &gt; B (73,0) &gt; C (70,1) — C paling murah tapi kalah karena jauh &amp; kondisi biasa: inilah gunanya multi-kriteria.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22960" y="7475220"/>
            <a:ext cx="16596360" cy="1851660"/>
            <a:chOff x="0" y="0"/>
            <a:chExt cx="22128480" cy="24688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322576"/>
                  </a:lnTo>
                  <a:cubicBezTo>
                    <a:pt x="22128480" y="2403348"/>
                    <a:pt x="22062948" y="2468880"/>
                    <a:pt x="219821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03020" y="7708392"/>
            <a:ext cx="15636240" cy="1440180"/>
            <a:chOff x="0" y="0"/>
            <a:chExt cx="20848320" cy="1920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8483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2084832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 b="true">
                  <a:solidFill>
                    <a:srgbClr val="97BC6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Skor Akhir = 100 × (jumlah semua kriteria terbobot) × Faktor Pengurang   </a:t>
              </a:r>
            </a:p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 tahap: pertama buang alat yang jelas tidak mungkin (habis, terlalu jauh, rusak); baru sisanya diberi skor dari 6 kriteria di atas. Paket akhir disusun otomatis supaya tetap muat di budget.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ALGORITMA INTI #2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ALG-2: Cegah Alat Dipesan Dobel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8092440" cy="3497580"/>
            <a:chOff x="0" y="0"/>
            <a:chExt cx="10789920" cy="466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4517136"/>
                  </a:lnTo>
                  <a:cubicBezTo>
                    <a:pt x="10789920" y="4597908"/>
                    <a:pt x="10724388" y="4663440"/>
                    <a:pt x="1064361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CE9E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606040"/>
            <a:ext cx="7406640" cy="411480"/>
            <a:chOff x="0" y="0"/>
            <a:chExt cx="987552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23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CARA SALAH: JUMLAHKAN SEMUA BOOKING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5860" y="3086100"/>
            <a:ext cx="7406640" cy="754380"/>
            <a:chOff x="0" y="0"/>
            <a:chExt cx="987552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8755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B23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Stok 1 unit. Booking X = 1–3 Jan, Booking Y = 5–7 Jan (dua-duanya tidak saling tabrak).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5860" y="3909060"/>
            <a:ext cx="7406640" cy="1851660"/>
            <a:chOff x="0" y="0"/>
            <a:chExt cx="9875520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75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875520" cy="2535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Kalau sistem cuma jumlahkan semua booking yang "nyerempet" tanggal 4 Jan, hasilnya 2 unit terpakai — padahal stok cuma 1, jadi permintaan tanggal 4 Jan ditolak. Padahal seharusnya boleh, karena X dan Y sendiri tidak tabrakan.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26880" y="2400300"/>
            <a:ext cx="8092440" cy="3497580"/>
            <a:chOff x="0" y="0"/>
            <a:chExt cx="10789920" cy="466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8992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4517136"/>
                  </a:lnTo>
                  <a:cubicBezTo>
                    <a:pt x="10789920" y="4597908"/>
                    <a:pt x="10724388" y="4663440"/>
                    <a:pt x="1064361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69780" y="2606040"/>
            <a:ext cx="7406640" cy="411480"/>
            <a:chOff x="0" y="0"/>
            <a:chExt cx="987552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CARA BENAR: HITUNG HARI TERSIBUK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69780" y="3086100"/>
            <a:ext cx="7406640" cy="754380"/>
            <a:chOff x="0" y="0"/>
            <a:chExt cx="987552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8755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>
                  <a:solidFill>
                    <a:srgbClr val="1D3F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Stok tersedia = total stok − pemakaian tertinggi di rentang tanggal yang diminta.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69780" y="3909060"/>
            <a:ext cx="7406640" cy="1851660"/>
            <a:chOff x="0" y="0"/>
            <a:chExt cx="9875520" cy="2468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755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875520" cy="2535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 cek, di setiap hari dalam rentang tanggal, berapa unit yang sedang dipakai — bukan menjumlahkan semua booking. Ditambah buffer 1 hari untuk bersihkan alat sebelum dipakai lagi.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6240780"/>
            <a:ext cx="15087600" cy="480060"/>
            <a:chOff x="0" y="0"/>
            <a:chExt cx="2011680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0116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LAPIS PENCEGAH BENTROK SAAT DIPESAN BERSAMAAN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6858000"/>
            <a:ext cx="5417820" cy="2125980"/>
            <a:chOff x="0" y="0"/>
            <a:chExt cx="7223760" cy="2834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23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2237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7095744" y="0"/>
                  </a:lnTo>
                  <a:cubicBezTo>
                    <a:pt x="7166483" y="0"/>
                    <a:pt x="7223760" y="57277"/>
                    <a:pt x="7223760" y="128016"/>
                  </a:cubicBezTo>
                  <a:lnTo>
                    <a:pt x="7223760" y="2706624"/>
                  </a:lnTo>
                  <a:cubicBezTo>
                    <a:pt x="7223760" y="2777363"/>
                    <a:pt x="7166483" y="2834640"/>
                    <a:pt x="7095744" y="2834640"/>
                  </a:cubicBezTo>
                  <a:lnTo>
                    <a:pt x="128016" y="2834640"/>
                  </a:lnTo>
                  <a:cubicBezTo>
                    <a:pt x="57277" y="2834640"/>
                    <a:pt x="0" y="2777363"/>
                    <a:pt x="0" y="2706624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24712" y="7132320"/>
            <a:ext cx="685800" cy="685800"/>
            <a:chOff x="0" y="0"/>
            <a:chExt cx="9144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24712" y="7132320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88820" y="7132320"/>
            <a:ext cx="3977640" cy="685800"/>
            <a:chOff x="0" y="0"/>
            <a:chExt cx="530352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303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Kunci Data Saat Diproses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24712" y="7927848"/>
            <a:ext cx="4814316" cy="960120"/>
            <a:chOff x="0" y="0"/>
            <a:chExt cx="6419088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19088" cy="1280160"/>
            </a:xfrm>
            <a:custGeom>
              <a:avLst/>
              <a:gdLst/>
              <a:ahLst/>
              <a:cxnLst/>
              <a:rect r="r" b="b" t="t" l="l"/>
              <a:pathLst>
                <a:path h="1280160" w="6419088">
                  <a:moveTo>
                    <a:pt x="0" y="0"/>
                  </a:moveTo>
                  <a:lnTo>
                    <a:pt x="6419088" y="0"/>
                  </a:lnTo>
                  <a:lnTo>
                    <a:pt x="641908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03" r="0" b="-4770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6419088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Booking dikunci sebentar saat diproses; cek ulang stok tepat sebelum simpan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377940" y="6858000"/>
            <a:ext cx="5417820" cy="2125980"/>
            <a:chOff x="0" y="0"/>
            <a:chExt cx="7223760" cy="2834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23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2237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7095744" y="0"/>
                  </a:lnTo>
                  <a:cubicBezTo>
                    <a:pt x="7166483" y="0"/>
                    <a:pt x="7223760" y="57277"/>
                    <a:pt x="7223760" y="128016"/>
                  </a:cubicBezTo>
                  <a:lnTo>
                    <a:pt x="7223760" y="2706624"/>
                  </a:lnTo>
                  <a:cubicBezTo>
                    <a:pt x="7223760" y="2777363"/>
                    <a:pt x="7166483" y="2834640"/>
                    <a:pt x="7095744" y="2834640"/>
                  </a:cubicBezTo>
                  <a:lnTo>
                    <a:pt x="128016" y="2834640"/>
                  </a:lnTo>
                  <a:cubicBezTo>
                    <a:pt x="57277" y="2834640"/>
                    <a:pt x="0" y="2777363"/>
                    <a:pt x="0" y="2706624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679692" y="7132320"/>
            <a:ext cx="685800" cy="685800"/>
            <a:chOff x="0" y="0"/>
            <a:chExt cx="9144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679692" y="7132320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543800" y="7132320"/>
            <a:ext cx="3977640" cy="685800"/>
            <a:chOff x="0" y="0"/>
            <a:chExt cx="530352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303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Aturan Ketat di Database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79692" y="7927848"/>
            <a:ext cx="4814316" cy="960120"/>
            <a:chOff x="0" y="0"/>
            <a:chExt cx="6419088" cy="1280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19088" cy="1280160"/>
            </a:xfrm>
            <a:custGeom>
              <a:avLst/>
              <a:gdLst/>
              <a:ahLst/>
              <a:cxnLst/>
              <a:rect r="r" b="b" t="t" l="l"/>
              <a:pathLst>
                <a:path h="1280160" w="6419088">
                  <a:moveTo>
                    <a:pt x="0" y="0"/>
                  </a:moveTo>
                  <a:lnTo>
                    <a:pt x="6419088" y="0"/>
                  </a:lnTo>
                  <a:lnTo>
                    <a:pt x="641908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03" r="0" b="-4770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419088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sendiri menolak kalau ada dua booking bentrok di unit yang sama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932920" y="6858000"/>
            <a:ext cx="5417820" cy="2125980"/>
            <a:chOff x="0" y="0"/>
            <a:chExt cx="7223760" cy="2834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223760" cy="2834640"/>
            </a:xfrm>
            <a:custGeom>
              <a:avLst/>
              <a:gdLst/>
              <a:ahLst/>
              <a:cxnLst/>
              <a:rect r="r" b="b" t="t" l="l"/>
              <a:pathLst>
                <a:path h="2834640" w="72237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7095744" y="0"/>
                  </a:lnTo>
                  <a:cubicBezTo>
                    <a:pt x="7166483" y="0"/>
                    <a:pt x="7223760" y="57277"/>
                    <a:pt x="7223760" y="128016"/>
                  </a:cubicBezTo>
                  <a:lnTo>
                    <a:pt x="7223760" y="2706624"/>
                  </a:lnTo>
                  <a:cubicBezTo>
                    <a:pt x="7223760" y="2777363"/>
                    <a:pt x="7166483" y="2834640"/>
                    <a:pt x="7095744" y="2834640"/>
                  </a:cubicBezTo>
                  <a:lnTo>
                    <a:pt x="128016" y="2834640"/>
                  </a:lnTo>
                  <a:cubicBezTo>
                    <a:pt x="57277" y="2834640"/>
                    <a:pt x="0" y="2777363"/>
                    <a:pt x="0" y="2706624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234672" y="7132320"/>
            <a:ext cx="685800" cy="685800"/>
            <a:chOff x="0" y="0"/>
            <a:chExt cx="91440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234672" y="7132320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098780" y="7132320"/>
            <a:ext cx="3977640" cy="685800"/>
            <a:chOff x="0" y="0"/>
            <a:chExt cx="530352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3035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Cegah Klik Dobel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234672" y="7927848"/>
            <a:ext cx="4814316" cy="960120"/>
            <a:chOff x="0" y="0"/>
            <a:chExt cx="6419088" cy="12801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19088" cy="1280160"/>
            </a:xfrm>
            <a:custGeom>
              <a:avLst/>
              <a:gdLst/>
              <a:ahLst/>
              <a:cxnLst/>
              <a:rect r="r" b="b" t="t" l="l"/>
              <a:pathLst>
                <a:path h="1280160" w="6419088">
                  <a:moveTo>
                    <a:pt x="0" y="0"/>
                  </a:moveTo>
                  <a:lnTo>
                    <a:pt x="6419088" y="0"/>
                  </a:lnTo>
                  <a:lnTo>
                    <a:pt x="641908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03" r="0" b="-4770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6419088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D7E5C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Klik tombol booking dua kali tidak akan membuat dua transaksi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22960" y="9189720"/>
            <a:ext cx="16459200" cy="480060"/>
            <a:chOff x="0" y="0"/>
            <a:chExt cx="21945600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456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8058" r="0" b="-61805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19456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D97B29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Cara buktikan: coba 50 orang pesan bersamaan ke 1 unit stok yang sama — hasilnya harus tepat 1 yang berhasil, 49 lainnya otomatis ditolak.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ALGORITMA INTI #3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ALG-3: Bandingkan Kondisi Alat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21992"/>
            <a:ext cx="16596360" cy="480060"/>
            <a:chOff x="0" y="0"/>
            <a:chExt cx="2212848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625" r="0" b="-6236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 simpan foto &amp; catatan kondisi tiap kali diperiksa (bukan cuma satu status yang ditimpa terus)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948940"/>
            <a:ext cx="8366760" cy="576072"/>
            <a:chOff x="0" y="0"/>
            <a:chExt cx="11155680" cy="768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55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1155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082528" y="0"/>
                  </a:lnTo>
                  <a:cubicBezTo>
                    <a:pt x="11122914" y="0"/>
                    <a:pt x="11155680" y="32766"/>
                    <a:pt x="11155680" y="73152"/>
                  </a:cubicBezTo>
                  <a:lnTo>
                    <a:pt x="11155680" y="694944"/>
                  </a:lnTo>
                  <a:cubicBezTo>
                    <a:pt x="11155680" y="735330"/>
                    <a:pt x="11122914" y="768096"/>
                    <a:pt x="11082528" y="768096"/>
                  </a:cubicBezTo>
                  <a:lnTo>
                    <a:pt x="73152" y="768096"/>
                  </a:lnTo>
                  <a:cubicBezTo>
                    <a:pt x="32766" y="768096"/>
                    <a:pt x="0" y="735330"/>
                    <a:pt x="0" y="694944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2948940"/>
            <a:ext cx="1234440" cy="576072"/>
            <a:chOff x="0" y="0"/>
            <a:chExt cx="1645920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" cy="768096"/>
            </a:xfrm>
            <a:custGeom>
              <a:avLst/>
              <a:gdLst/>
              <a:ahLst/>
              <a:cxnLst/>
              <a:rect r="r" b="b" t="t" l="l"/>
              <a:pathLst>
                <a:path h="76809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4592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Beda Skor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31720" y="2948940"/>
            <a:ext cx="2331720" cy="576072"/>
            <a:chOff x="0" y="0"/>
            <a:chExt cx="3108960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08960" cy="768096"/>
            </a:xfrm>
            <a:custGeom>
              <a:avLst/>
              <a:gdLst/>
              <a:ahLst/>
              <a:cxnLst/>
              <a:rect r="r" b="b" t="t" l="l"/>
              <a:pathLst>
                <a:path h="76809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0896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Artinya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00600" y="2948940"/>
            <a:ext cx="4389120" cy="576072"/>
            <a:chOff x="0" y="0"/>
            <a:chExt cx="5852160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85216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Tindakan sistem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3634740"/>
            <a:ext cx="8366760" cy="576072"/>
            <a:chOff x="0" y="0"/>
            <a:chExt cx="1115568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55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1155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082528" y="0"/>
                  </a:lnTo>
                  <a:cubicBezTo>
                    <a:pt x="11122914" y="0"/>
                    <a:pt x="11155680" y="32766"/>
                    <a:pt x="11155680" y="73152"/>
                  </a:cubicBezTo>
                  <a:lnTo>
                    <a:pt x="11155680" y="694944"/>
                  </a:lnTo>
                  <a:cubicBezTo>
                    <a:pt x="11155680" y="735330"/>
                    <a:pt x="11122914" y="768096"/>
                    <a:pt x="11082528" y="768096"/>
                  </a:cubicBezTo>
                  <a:lnTo>
                    <a:pt x="73152" y="768096"/>
                  </a:lnTo>
                  <a:cubicBezTo>
                    <a:pt x="32766" y="768096"/>
                    <a:pt x="0" y="735330"/>
                    <a:pt x="0" y="694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700" y="3634740"/>
            <a:ext cx="1234440" cy="576072"/>
            <a:chOff x="0" y="0"/>
            <a:chExt cx="164592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0" cy="768096"/>
            </a:xfrm>
            <a:custGeom>
              <a:avLst/>
              <a:gdLst/>
              <a:ahLst/>
              <a:cxnLst/>
              <a:rect r="r" b="b" t="t" l="l"/>
              <a:pathLst>
                <a:path h="76809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6459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0291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 – 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31720" y="3634740"/>
            <a:ext cx="2331720" cy="576072"/>
            <a:chOff x="0" y="0"/>
            <a:chExt cx="3108960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08960" cy="768096"/>
            </a:xfrm>
            <a:custGeom>
              <a:avLst/>
              <a:gdLst/>
              <a:ahLst/>
              <a:cxnLst/>
              <a:rect r="r" b="b" t="t" l="l"/>
              <a:pathLst>
                <a:path h="76809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108960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800600" y="3634740"/>
            <a:ext cx="4183380" cy="576072"/>
            <a:chOff x="0" y="0"/>
            <a:chExt cx="557784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77840" cy="768096"/>
            </a:xfrm>
            <a:custGeom>
              <a:avLst/>
              <a:gdLst/>
              <a:ahLst/>
              <a:cxnLst/>
              <a:rect r="r" b="b" t="t" l="l"/>
              <a:pathLst>
                <a:path h="7680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98" r="0" b="-9149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5778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Selesai otomatis, deposit kembali penuh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4320540"/>
            <a:ext cx="8366760" cy="576072"/>
            <a:chOff x="0" y="0"/>
            <a:chExt cx="11155680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55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1155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082528" y="0"/>
                  </a:lnTo>
                  <a:cubicBezTo>
                    <a:pt x="11122914" y="0"/>
                    <a:pt x="11155680" y="32766"/>
                    <a:pt x="11155680" y="73152"/>
                  </a:cubicBezTo>
                  <a:lnTo>
                    <a:pt x="11155680" y="694944"/>
                  </a:lnTo>
                  <a:cubicBezTo>
                    <a:pt x="11155680" y="735330"/>
                    <a:pt x="11122914" y="768096"/>
                    <a:pt x="11082528" y="768096"/>
                  </a:cubicBezTo>
                  <a:lnTo>
                    <a:pt x="73152" y="768096"/>
                  </a:lnTo>
                  <a:cubicBezTo>
                    <a:pt x="32766" y="768096"/>
                    <a:pt x="0" y="735330"/>
                    <a:pt x="0" y="694944"/>
                  </a:cubicBezTo>
                  <a:close/>
                </a:path>
              </a:pathLst>
            </a:custGeom>
            <a:solidFill>
              <a:srgbClr val="F5F8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8700" y="4320540"/>
            <a:ext cx="1234440" cy="576072"/>
            <a:chOff x="0" y="0"/>
            <a:chExt cx="164592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45920" cy="768096"/>
            </a:xfrm>
            <a:custGeom>
              <a:avLst/>
              <a:gdLst/>
              <a:ahLst/>
              <a:cxnLst/>
              <a:rect r="r" b="b" t="t" l="l"/>
              <a:pathLst>
                <a:path h="76809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6459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0291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3 – 15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31720" y="4320540"/>
            <a:ext cx="2331720" cy="576072"/>
            <a:chOff x="0" y="0"/>
            <a:chExt cx="310896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08960" cy="768096"/>
            </a:xfrm>
            <a:custGeom>
              <a:avLst/>
              <a:gdLst/>
              <a:ahLst/>
              <a:cxnLst/>
              <a:rect r="r" b="b" t="t" l="l"/>
              <a:pathLst>
                <a:path h="76809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108960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RUSAK RINGAN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800600" y="4320540"/>
            <a:ext cx="4183380" cy="576072"/>
            <a:chOff x="0" y="0"/>
            <a:chExt cx="5577840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77840" cy="768096"/>
            </a:xfrm>
            <a:custGeom>
              <a:avLst/>
              <a:gdLst/>
              <a:ahLst/>
              <a:cxnLst/>
              <a:rect r="r" b="b" t="t" l="l"/>
              <a:pathLst>
                <a:path h="7680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98" r="0" b="-9149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5778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Usulan denda ringan → butuh persetujuan admin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5006340"/>
            <a:ext cx="8366760" cy="576072"/>
            <a:chOff x="0" y="0"/>
            <a:chExt cx="1115568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155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1155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082528" y="0"/>
                  </a:lnTo>
                  <a:cubicBezTo>
                    <a:pt x="11122914" y="0"/>
                    <a:pt x="11155680" y="32766"/>
                    <a:pt x="11155680" y="73152"/>
                  </a:cubicBezTo>
                  <a:lnTo>
                    <a:pt x="11155680" y="694944"/>
                  </a:lnTo>
                  <a:cubicBezTo>
                    <a:pt x="11155680" y="735330"/>
                    <a:pt x="11122914" y="768096"/>
                    <a:pt x="11082528" y="768096"/>
                  </a:cubicBezTo>
                  <a:lnTo>
                    <a:pt x="73152" y="768096"/>
                  </a:lnTo>
                  <a:cubicBezTo>
                    <a:pt x="32766" y="768096"/>
                    <a:pt x="0" y="735330"/>
                    <a:pt x="0" y="6949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8700" y="5006340"/>
            <a:ext cx="1234440" cy="576072"/>
            <a:chOff x="0" y="0"/>
            <a:chExt cx="1645920" cy="7680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0" cy="768096"/>
            </a:xfrm>
            <a:custGeom>
              <a:avLst/>
              <a:gdLst/>
              <a:ahLst/>
              <a:cxnLst/>
              <a:rect r="r" b="b" t="t" l="l"/>
              <a:pathLst>
                <a:path h="76809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6459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0291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15 – 40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331720" y="5006340"/>
            <a:ext cx="2331720" cy="576072"/>
            <a:chOff x="0" y="0"/>
            <a:chExt cx="310896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08960" cy="768096"/>
            </a:xfrm>
            <a:custGeom>
              <a:avLst/>
              <a:gdLst/>
              <a:ahLst/>
              <a:cxnLst/>
              <a:rect r="r" b="b" t="t" l="l"/>
              <a:pathLst>
                <a:path h="76809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108960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C25A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RUSAK BERAT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800600" y="5006340"/>
            <a:ext cx="4183380" cy="576072"/>
            <a:chOff x="0" y="0"/>
            <a:chExt cx="5577840" cy="7680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577840" cy="768096"/>
            </a:xfrm>
            <a:custGeom>
              <a:avLst/>
              <a:gdLst/>
              <a:ahLst/>
              <a:cxnLst/>
              <a:rect r="r" b="b" t="t" l="l"/>
              <a:pathLst>
                <a:path h="7680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98" r="0" b="-9149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5778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Usulan denda berat → admin + notifikasi customer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5692140"/>
            <a:ext cx="8366760" cy="576072"/>
            <a:chOff x="0" y="0"/>
            <a:chExt cx="11155680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155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1155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11082528" y="0"/>
                  </a:lnTo>
                  <a:cubicBezTo>
                    <a:pt x="11122914" y="0"/>
                    <a:pt x="11155680" y="32766"/>
                    <a:pt x="11155680" y="73152"/>
                  </a:cubicBezTo>
                  <a:lnTo>
                    <a:pt x="11155680" y="694944"/>
                  </a:lnTo>
                  <a:cubicBezTo>
                    <a:pt x="11155680" y="735330"/>
                    <a:pt x="11122914" y="768096"/>
                    <a:pt x="11082528" y="768096"/>
                  </a:cubicBezTo>
                  <a:lnTo>
                    <a:pt x="73152" y="768096"/>
                  </a:lnTo>
                  <a:cubicBezTo>
                    <a:pt x="32766" y="768096"/>
                    <a:pt x="0" y="735330"/>
                    <a:pt x="0" y="694944"/>
                  </a:cubicBezTo>
                  <a:close/>
                </a:path>
              </a:pathLst>
            </a:custGeom>
            <a:solidFill>
              <a:srgbClr val="F5F8F2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28700" y="5692140"/>
            <a:ext cx="1234440" cy="576072"/>
            <a:chOff x="0" y="0"/>
            <a:chExt cx="1645920" cy="7680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45920" cy="768096"/>
            </a:xfrm>
            <a:custGeom>
              <a:avLst/>
              <a:gdLst/>
              <a:ahLst/>
              <a:cxnLst/>
              <a:rect r="r" b="b" t="t" l="l"/>
              <a:pathLst>
                <a:path h="76809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645920" cy="777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0291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40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331720" y="5692140"/>
            <a:ext cx="2331720" cy="576072"/>
            <a:chOff x="0" y="0"/>
            <a:chExt cx="310896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108960" cy="768096"/>
            </a:xfrm>
            <a:custGeom>
              <a:avLst/>
              <a:gdLst/>
              <a:ahLst/>
              <a:cxnLst/>
              <a:rect r="r" b="b" t="t" l="l"/>
              <a:pathLst>
                <a:path h="76809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3108960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B23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PARAH/HILANG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800600" y="5692140"/>
            <a:ext cx="4183380" cy="576072"/>
            <a:chOff x="0" y="0"/>
            <a:chExt cx="5577840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77840" cy="768096"/>
            </a:xfrm>
            <a:custGeom>
              <a:avLst/>
              <a:gdLst/>
              <a:ahLst/>
              <a:cxnLst/>
              <a:rect r="r" b="b" t="t" l="l"/>
              <a:pathLst>
                <a:path h="7680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98" r="0" b="-9149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5778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Kasus sengketa otomatis, admin wajib turun tangan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6446520"/>
            <a:ext cx="8366760" cy="411480"/>
            <a:chOff x="0" y="0"/>
            <a:chExt cx="1115568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11556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5B6B5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Denda tidak dihitung AI — dari tabel tarif tetap, dibatasi maksimal sebesar deposit.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01200" y="2948940"/>
            <a:ext cx="7818120" cy="3634740"/>
            <a:chOff x="0" y="0"/>
            <a:chExt cx="10424160" cy="48463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24161" cy="4846320"/>
            </a:xfrm>
            <a:custGeom>
              <a:avLst/>
              <a:gdLst/>
              <a:ahLst/>
              <a:cxnLst/>
              <a:rect r="r" b="b" t="t" l="l"/>
              <a:pathLst>
                <a:path h="4846320" w="104241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4700016"/>
                  </a:lnTo>
                  <a:cubicBezTo>
                    <a:pt x="10424161" y="4780788"/>
                    <a:pt x="10358628" y="4846320"/>
                    <a:pt x="10277856" y="4846320"/>
                  </a:cubicBezTo>
                  <a:lnTo>
                    <a:pt x="146304" y="4846320"/>
                  </a:lnTo>
                  <a:cubicBezTo>
                    <a:pt x="65532" y="4846320"/>
                    <a:pt x="0" y="4780788"/>
                    <a:pt x="0" y="4700016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12680" y="3223260"/>
            <a:ext cx="6995160" cy="411480"/>
            <a:chOff x="0" y="0"/>
            <a:chExt cx="932688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326880" cy="548640"/>
            </a:xfrm>
            <a:custGeom>
              <a:avLst/>
              <a:gdLst/>
              <a:ahLst/>
              <a:cxnLst/>
              <a:rect r="r" b="b" t="t" l="l"/>
              <a:pathLst>
                <a:path h="54864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326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ATURAN GABUNG: SKOR AI &amp; SKOR MANUSIA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0104120" y="3752088"/>
            <a:ext cx="681228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 b="true">
                <a:solidFill>
                  <a:srgbClr val="97BC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 terlalu buram</a:t>
            </a:r>
            <a:r>
              <a:rPr lang="en-US" sz="15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→ pakai skor manusia, minta foto ulang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104120" y="4437888"/>
            <a:ext cx="681228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 b="true">
                <a:solidFill>
                  <a:srgbClr val="97BC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kurang yakin (di bawah 60%)</a:t>
            </a:r>
            <a:r>
              <a:rPr lang="en-US" sz="15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→ wajib diperiksa admin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104120" y="5123688"/>
            <a:ext cx="681228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 b="true">
                <a:solidFill>
                  <a:srgbClr val="97BC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Skor AI &amp; manusia dekat</a:t>
            </a:r>
            <a:r>
              <a:rPr lang="en-US" sz="15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→ cocok, langsung disetujui cepat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104120" y="5809488"/>
            <a:ext cx="6812280" cy="57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 b="true">
                <a:solidFill>
                  <a:srgbClr val="97BC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Skor AI &amp; manusia beda jauh</a:t>
            </a:r>
            <a:r>
              <a:rPr lang="en-US" sz="15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→ naik ke admin, tidak dirata-rata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22960" y="6926580"/>
            <a:ext cx="16596360" cy="2331720"/>
            <a:chOff x="0" y="0"/>
            <a:chExt cx="22128480" cy="31089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12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962656"/>
                  </a:lnTo>
                  <a:cubicBezTo>
                    <a:pt x="22128480" y="3043428"/>
                    <a:pt x="22062948" y="3108960"/>
                    <a:pt x="21982176" y="3108960"/>
                  </a:cubicBezTo>
                  <a:lnTo>
                    <a:pt x="146304" y="3108960"/>
                  </a:lnTo>
                  <a:cubicBezTo>
                    <a:pt x="65532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FBEED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34440" y="7132320"/>
            <a:ext cx="15773400" cy="548640"/>
            <a:chOff x="0" y="0"/>
            <a:chExt cx="210312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8A4A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SAAT AI DAN MANUSIA TIDAK SEPAKAT, SISTEM TIDAK MERATA-RATAKAN.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34440" y="7653528"/>
            <a:ext cx="15773400" cy="1508760"/>
            <a:chOff x="0" y="0"/>
            <a:chExt cx="21031200" cy="2011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76200"/>
              <a:ext cx="21031200" cy="2087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Merata-ratakan menyembunyikan ketidakpastian. Sistem menaikkan kasus itu ke admin. Nilai akhir yang tersimpan selalu berasal dari manusia; AI hanya menentukan seberapa cepat kasus lewat, dan ke mana perhatian admin diarahkan.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ALUR TRANSAKSI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Tahapan status transaksi, dari booking sampai selesai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948940"/>
            <a:ext cx="2537460" cy="1165860"/>
            <a:chOff x="0" y="0"/>
            <a:chExt cx="338328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948940"/>
            <a:ext cx="2537460" cy="1165860"/>
            <a:chOff x="0" y="0"/>
            <a:chExt cx="33832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DRAFT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60420" y="2948940"/>
            <a:ext cx="384048" cy="1165860"/>
            <a:chOff x="0" y="0"/>
            <a:chExt cx="512064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492" t="0" r="-33949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12064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44468" y="2948940"/>
            <a:ext cx="2537460" cy="1165860"/>
            <a:chOff x="0" y="0"/>
            <a:chExt cx="3383280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744468" y="2948940"/>
            <a:ext cx="2537460" cy="1165860"/>
            <a:chOff x="0" y="0"/>
            <a:chExt cx="338328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PENDING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81928" y="2948940"/>
            <a:ext cx="384048" cy="1165860"/>
            <a:chOff x="0" y="0"/>
            <a:chExt cx="512064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492" t="0" r="-33949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12064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65976" y="2948940"/>
            <a:ext cx="2537460" cy="1165860"/>
            <a:chOff x="0" y="0"/>
            <a:chExt cx="338328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65976" y="2948940"/>
            <a:ext cx="2537460" cy="1165860"/>
            <a:chOff x="0" y="0"/>
            <a:chExt cx="33832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AWAITING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03436" y="2948940"/>
            <a:ext cx="384048" cy="1165860"/>
            <a:chOff x="0" y="0"/>
            <a:chExt cx="512064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492" t="0" r="-33949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12064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87484" y="2948940"/>
            <a:ext cx="2537460" cy="1165860"/>
            <a:chOff x="0" y="0"/>
            <a:chExt cx="338328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87484" y="2948940"/>
            <a:ext cx="2537460" cy="1165860"/>
            <a:chOff x="0" y="0"/>
            <a:chExt cx="338328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PAID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24944" y="2948940"/>
            <a:ext cx="384048" cy="1165860"/>
            <a:chOff x="0" y="0"/>
            <a:chExt cx="512064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492" t="0" r="-33949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12064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508992" y="2948940"/>
            <a:ext cx="2537460" cy="1165860"/>
            <a:chOff x="0" y="0"/>
            <a:chExt cx="338328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508992" y="2948940"/>
            <a:ext cx="2537460" cy="1165860"/>
            <a:chOff x="0" y="0"/>
            <a:chExt cx="3383280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PICKED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2960" y="4526280"/>
            <a:ext cx="2537460" cy="1165860"/>
            <a:chOff x="0" y="0"/>
            <a:chExt cx="338328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4526280"/>
            <a:ext cx="2537460" cy="1165860"/>
            <a:chOff x="0" y="0"/>
            <a:chExt cx="338328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RETURNED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360420" y="4526280"/>
            <a:ext cx="384048" cy="1165860"/>
            <a:chOff x="0" y="0"/>
            <a:chExt cx="512064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492" t="0" r="-33949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12064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744468" y="4526280"/>
            <a:ext cx="2537460" cy="1165860"/>
            <a:chOff x="0" y="0"/>
            <a:chExt cx="3383280" cy="15544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744468" y="4526280"/>
            <a:ext cx="2537460" cy="1165860"/>
            <a:chOff x="0" y="0"/>
            <a:chExt cx="3383280" cy="1554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INSPECTION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281928" y="4526280"/>
            <a:ext cx="384048" cy="1165860"/>
            <a:chOff x="0" y="0"/>
            <a:chExt cx="512064" cy="1554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06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9492" t="0" r="-339492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512064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665976" y="4526280"/>
            <a:ext cx="2537460" cy="1165860"/>
            <a:chOff x="0" y="0"/>
            <a:chExt cx="3383280" cy="15544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273552" y="0"/>
                  </a:lnTo>
                  <a:cubicBezTo>
                    <a:pt x="3334131" y="0"/>
                    <a:pt x="3383280" y="49149"/>
                    <a:pt x="3383280" y="109728"/>
                  </a:cubicBezTo>
                  <a:lnTo>
                    <a:pt x="3383280" y="1444752"/>
                  </a:lnTo>
                  <a:cubicBezTo>
                    <a:pt x="3383280" y="1505331"/>
                    <a:pt x="3334131" y="1554480"/>
                    <a:pt x="32735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665976" y="4526280"/>
            <a:ext cx="2537460" cy="1165860"/>
            <a:chOff x="0" y="0"/>
            <a:chExt cx="3383280" cy="15544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832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50" t="0" r="-895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3832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5966460"/>
            <a:ext cx="3909060" cy="1165860"/>
            <a:chOff x="0" y="0"/>
            <a:chExt cx="5212080" cy="15544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12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212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102352" y="0"/>
                  </a:lnTo>
                  <a:cubicBezTo>
                    <a:pt x="5162931" y="0"/>
                    <a:pt x="5212080" y="49149"/>
                    <a:pt x="5212080" y="109728"/>
                  </a:cubicBezTo>
                  <a:lnTo>
                    <a:pt x="5212080" y="1444752"/>
                  </a:lnTo>
                  <a:cubicBezTo>
                    <a:pt x="5212080" y="1505331"/>
                    <a:pt x="5162931" y="1554480"/>
                    <a:pt x="5102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7552" y="6076188"/>
            <a:ext cx="3566160" cy="480060"/>
            <a:chOff x="0" y="0"/>
            <a:chExt cx="4754880" cy="640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REJECTED / EXPIRED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7552" y="6542532"/>
            <a:ext cx="3566160" cy="548640"/>
            <a:chOff x="0" y="0"/>
            <a:chExt cx="475488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7548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provider tolak / diam &gt;12 jam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006340" y="5966460"/>
            <a:ext cx="3909060" cy="1165860"/>
            <a:chOff x="0" y="0"/>
            <a:chExt cx="5212080" cy="15544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12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212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102352" y="0"/>
                  </a:lnTo>
                  <a:cubicBezTo>
                    <a:pt x="5162931" y="0"/>
                    <a:pt x="5212080" y="49149"/>
                    <a:pt x="5212080" y="109728"/>
                  </a:cubicBezTo>
                  <a:lnTo>
                    <a:pt x="5212080" y="1444752"/>
                  </a:lnTo>
                  <a:cubicBezTo>
                    <a:pt x="5212080" y="1505331"/>
                    <a:pt x="5162931" y="1554480"/>
                    <a:pt x="5102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170932" y="6076188"/>
            <a:ext cx="3566160" cy="480060"/>
            <a:chOff x="0" y="0"/>
            <a:chExt cx="4754880" cy="640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CANCELLED / NO_SHOW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170932" y="6542532"/>
            <a:ext cx="3566160" cy="548640"/>
            <a:chOff x="0" y="0"/>
            <a:chExt cx="475488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47548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tidak bayar 24 jam / tak diambil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89720" y="5966460"/>
            <a:ext cx="3909060" cy="1165860"/>
            <a:chOff x="0" y="0"/>
            <a:chExt cx="5212080" cy="15544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212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212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102352" y="0"/>
                  </a:lnTo>
                  <a:cubicBezTo>
                    <a:pt x="5162931" y="0"/>
                    <a:pt x="5212080" y="49149"/>
                    <a:pt x="5212080" y="109728"/>
                  </a:cubicBezTo>
                  <a:lnTo>
                    <a:pt x="5212080" y="1444752"/>
                  </a:lnTo>
                  <a:cubicBezTo>
                    <a:pt x="5212080" y="1505331"/>
                    <a:pt x="5162931" y="1554480"/>
                    <a:pt x="5102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354312" y="6076188"/>
            <a:ext cx="3566160" cy="480060"/>
            <a:chOff x="0" y="0"/>
            <a:chExt cx="4754880" cy="6400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OVERDUE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354312" y="6542532"/>
            <a:ext cx="3566160" cy="548640"/>
            <a:chOff x="0" y="0"/>
            <a:chExt cx="475488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47548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lewat tanggal selesai (+denda telat)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373100" y="5966460"/>
            <a:ext cx="3909060" cy="1165860"/>
            <a:chOff x="0" y="0"/>
            <a:chExt cx="5212080" cy="15544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12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212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102352" y="0"/>
                  </a:lnTo>
                  <a:cubicBezTo>
                    <a:pt x="5162931" y="0"/>
                    <a:pt x="5212080" y="49149"/>
                    <a:pt x="5212080" y="109728"/>
                  </a:cubicBezTo>
                  <a:lnTo>
                    <a:pt x="5212080" y="1444752"/>
                  </a:lnTo>
                  <a:cubicBezTo>
                    <a:pt x="5212080" y="1505331"/>
                    <a:pt x="5162931" y="1554480"/>
                    <a:pt x="5102352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537692" y="6076188"/>
            <a:ext cx="3566160" cy="480060"/>
            <a:chOff x="0" y="0"/>
            <a:chExt cx="4754880" cy="6400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754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DISPUTED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537692" y="6542532"/>
            <a:ext cx="3566160" cy="548640"/>
            <a:chOff x="0" y="0"/>
            <a:chExt cx="475488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47548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FBD9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selisih AI–manusia / customer membantah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22960" y="7612380"/>
            <a:ext cx="16596360" cy="1234440"/>
            <a:chOff x="0" y="0"/>
            <a:chExt cx="22128480" cy="16459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857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 pengunci stok: </a:t>
              </a:r>
              <a:r>
                <a:rPr lang="en-US" sz="1725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PENDING_CONFIRMATION, AWAITING_PAYMENT, PAID, PICKED_UP, OVERDUE, RETURNED, INSPECTION</a:t>
              </a:r>
              <a:r>
                <a:rPr lang="en-US" sz="17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— bahkan status pending pun soft-hold stok, dijaga job auto-expire agar tidak tersandera selamanya.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8915400"/>
            <a:ext cx="16596360" cy="685800"/>
            <a:chOff x="0" y="0"/>
            <a:chExt cx="22128480" cy="9144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i="true">
                  <a:solidFill>
                    <a:srgbClr val="D97B29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Aturan kunci: customer wajib menyetujui snapshot PRE_RENTAL saat serah terima — tanpa ini, provider tidak bisa klaim kerusakan.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DESAIN DATABASE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NIK jadi identitas utama, bukan kunci database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21992"/>
            <a:ext cx="16459200" cy="480060"/>
            <a:chOff x="0" y="0"/>
            <a:chExt cx="219456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8058" r="0" b="-61805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KEPUTUSAN: satu NIK tetap hanya untuk satu akun, tapi disimpan terenkripsi, bukan jadi kunci utama tabel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8229600" cy="3223260"/>
            <a:chOff x="0" y="0"/>
            <a:chExt cx="10972800" cy="4297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97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6496" y="0"/>
                  </a:lnTo>
                  <a:cubicBezTo>
                    <a:pt x="10907268" y="0"/>
                    <a:pt x="10972800" y="65532"/>
                    <a:pt x="10972800" y="146304"/>
                  </a:cubicBezTo>
                  <a:lnTo>
                    <a:pt x="10972800" y="4151376"/>
                  </a:lnTo>
                  <a:cubicBezTo>
                    <a:pt x="10972800" y="4232148"/>
                    <a:pt x="10907268" y="4297680"/>
                    <a:pt x="1082649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5860" y="2948940"/>
            <a:ext cx="7543800" cy="2811780"/>
            <a:chOff x="0" y="0"/>
            <a:chExt cx="10058400" cy="3749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0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749040"/>
                  </a:lnTo>
                  <a:lnTo>
                    <a:pt x="0" y="37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" r="0" b="-227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058400" cy="3806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6"/>
                </a:lnSpc>
              </a:pPr>
              <a:r>
                <a:rPr lang="en-US" sz="1350">
                  <a:solidFill>
                    <a:srgbClr val="97BC6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users (</a:t>
              </a:r>
            </a:p>
            <a:p>
              <a:pPr algn="l">
                <a:lnSpc>
                  <a:spcPts val="2106"/>
                </a:lnSpc>
              </a:pPr>
              <a:r>
                <a:rPr lang="en-US" sz="1350">
                  <a:solidFill>
                    <a:srgbClr val="97BC6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id          BIGINT AUTO_INCREMENT PRIMARY KEY</a:t>
              </a:r>
            </a:p>
            <a:p>
              <a:pPr algn="l">
                <a:lnSpc>
                  <a:spcPts val="2106"/>
                </a:lnSpc>
              </a:pPr>
              <a:r>
                <a:rPr lang="en-US" sz="1350">
                  <a:solidFill>
                    <a:srgbClr val="97BC6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public_id   CHAR(26) UNIQUE   -- ULID, dipakai di URL &amp; API</a:t>
              </a:r>
            </a:p>
            <a:p>
              <a:pPr algn="l">
                <a:lnSpc>
                  <a:spcPts val="2106"/>
                </a:lnSpc>
              </a:pPr>
              <a:r>
                <a:rPr lang="en-US" sz="1350">
                  <a:solidFill>
                    <a:srgbClr val="97BC6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nik_hash    CHAR(64) UNIQUE   -- SHA-256(NIK+pepper)</a:t>
              </a:r>
            </a:p>
            <a:p>
              <a:pPr algn="l">
                <a:lnSpc>
                  <a:spcPts val="2106"/>
                </a:lnSpc>
              </a:pPr>
              <a:r>
                <a:rPr lang="en-US" sz="1350">
                  <a:solidFill>
                    <a:srgbClr val="97BC6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nik_enc     VARBINARY(255)    -- AES-256-GCM, untuk admin</a:t>
              </a:r>
            </a:p>
            <a:p>
              <a:pPr algn="l">
                <a:lnSpc>
                  <a:spcPts val="2106"/>
                </a:lnSpc>
              </a:pPr>
              <a:r>
                <a:rPr lang="en-US" sz="1350">
                  <a:solidFill>
                    <a:srgbClr val="97BC6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nik_masked  CHAR(16)          -- '3201********0001'</a:t>
              </a:r>
            </a:p>
            <a:p>
              <a:pPr algn="l">
                <a:lnSpc>
                  <a:spcPts val="2106"/>
                </a:lnSpc>
              </a:pPr>
              <a:r>
                <a:rPr lang="en-US" sz="1350">
                  <a:solidFill>
                    <a:srgbClr val="97BC6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64040" y="2743200"/>
            <a:ext cx="7955280" cy="3223260"/>
            <a:chOff x="0" y="0"/>
            <a:chExt cx="10607040" cy="4297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7040" cy="4297680"/>
            </a:xfrm>
            <a:custGeom>
              <a:avLst/>
              <a:gdLst/>
              <a:ahLst/>
              <a:cxnLst/>
              <a:rect r="r" b="b" t="t" l="l"/>
              <a:pathLst>
                <a:path h="4297680" w="10607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460736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4151376"/>
                  </a:lnTo>
                  <a:cubicBezTo>
                    <a:pt x="10607040" y="4232148"/>
                    <a:pt x="10541508" y="4297680"/>
                    <a:pt x="1046073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06940" y="2948940"/>
            <a:ext cx="7269480" cy="411480"/>
            <a:chOff x="0" y="0"/>
            <a:chExt cx="96926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692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KENAPA NIK TIDAK JADI KUNCI UTAMA TABEL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06940" y="3429000"/>
            <a:ext cx="7269480" cy="2400300"/>
            <a:chOff x="0" y="0"/>
            <a:chExt cx="9692640" cy="3200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92640" cy="3200400"/>
            </a:xfrm>
            <a:custGeom>
              <a:avLst/>
              <a:gdLst/>
              <a:ahLst/>
              <a:cxnLst/>
              <a:rect r="r" b="b" t="t" l="l"/>
              <a:pathLst>
                <a:path h="3200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11" r="0" b="-901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692640" cy="3238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Kalau NIK jadi kunci utama, NIK bisa bocor lewat alamat website/log server</a:t>
              </a:r>
            </a:p>
            <a:p>
              <a:pPr algn="l" marL="285036" indent="-142518" lvl="1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NIK ikut disalin ke banyak tabel lain, jadi susah dienkripsi dan boros ruang</a:t>
              </a:r>
            </a:p>
            <a:p>
              <a:pPr algn="l" marL="285036" indent="-142518" lvl="1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NIK juga jadi susah dienkripsi dengan aman kalau jadi kunci utama</a:t>
              </a:r>
            </a:p>
            <a:p>
              <a:pPr algn="l" marL="285036" indent="-142518" lvl="1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Cara ini tetap jamin satu NIK cuma boleh satu akun — tujuan tetap tercapai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6240780"/>
            <a:ext cx="10972800" cy="411480"/>
            <a:chOff x="0" y="0"/>
            <a:chExt cx="14630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TABEL INTI &amp; KARDINALITAS UTAMA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6789420"/>
            <a:ext cx="16596360" cy="493776"/>
            <a:chOff x="0" y="0"/>
            <a:chExt cx="22128480" cy="6583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2055328" y="0"/>
                  </a:lnTo>
                  <a:cubicBezTo>
                    <a:pt x="22095715" y="0"/>
                    <a:pt x="22128480" y="32766"/>
                    <a:pt x="22128480" y="73152"/>
                  </a:cubicBezTo>
                  <a:lnTo>
                    <a:pt x="22128480" y="585216"/>
                  </a:lnTo>
                  <a:cubicBezTo>
                    <a:pt x="22128480" y="625602"/>
                    <a:pt x="22095715" y="658368"/>
                    <a:pt x="22055328" y="658368"/>
                  </a:cubicBezTo>
                  <a:lnTo>
                    <a:pt x="73152" y="658368"/>
                  </a:lnTo>
                  <a:cubicBezTo>
                    <a:pt x="32766" y="658368"/>
                    <a:pt x="0" y="625602"/>
                    <a:pt x="0" y="58521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6789420"/>
            <a:ext cx="15910560" cy="493776"/>
            <a:chOff x="0" y="0"/>
            <a:chExt cx="21214080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214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851" r="0" b="-5778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121408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0291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equipment 1—N equipment_units  (stok = jumlah unit fisik)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7365492"/>
            <a:ext cx="16596360" cy="493776"/>
            <a:chOff x="0" y="0"/>
            <a:chExt cx="22128480" cy="658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2055328" y="0"/>
                  </a:lnTo>
                  <a:cubicBezTo>
                    <a:pt x="22095715" y="0"/>
                    <a:pt x="22128480" y="32766"/>
                    <a:pt x="22128480" y="73152"/>
                  </a:cubicBezTo>
                  <a:lnTo>
                    <a:pt x="22128480" y="585216"/>
                  </a:lnTo>
                  <a:cubicBezTo>
                    <a:pt x="22128480" y="625602"/>
                    <a:pt x="22095715" y="658368"/>
                    <a:pt x="22055328" y="658368"/>
                  </a:cubicBezTo>
                  <a:lnTo>
                    <a:pt x="73152" y="658368"/>
                  </a:lnTo>
                  <a:cubicBezTo>
                    <a:pt x="32766" y="658368"/>
                    <a:pt x="0" y="625602"/>
                    <a:pt x="0" y="585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7365492"/>
            <a:ext cx="15910560" cy="493776"/>
            <a:chOff x="0" y="0"/>
            <a:chExt cx="21214080" cy="658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214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851" r="0" b="-57785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121408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0291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rental_transactions 1—N rental_details  ·  index kritis (equipment_id, start_date, end_date)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7941564"/>
            <a:ext cx="16596360" cy="493776"/>
            <a:chOff x="0" y="0"/>
            <a:chExt cx="22128480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2055328" y="0"/>
                  </a:lnTo>
                  <a:cubicBezTo>
                    <a:pt x="22095715" y="0"/>
                    <a:pt x="22128480" y="32766"/>
                    <a:pt x="22128480" y="73152"/>
                  </a:cubicBezTo>
                  <a:lnTo>
                    <a:pt x="22128480" y="585216"/>
                  </a:lnTo>
                  <a:cubicBezTo>
                    <a:pt x="22128480" y="625602"/>
                    <a:pt x="22095715" y="658368"/>
                    <a:pt x="22055328" y="658368"/>
                  </a:cubicBezTo>
                  <a:lnTo>
                    <a:pt x="73152" y="658368"/>
                  </a:lnTo>
                  <a:cubicBezTo>
                    <a:pt x="32766" y="658368"/>
                    <a:pt x="0" y="625602"/>
                    <a:pt x="0" y="58521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5860" y="7941564"/>
            <a:ext cx="15910560" cy="493776"/>
            <a:chOff x="0" y="0"/>
            <a:chExt cx="21214080" cy="6583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214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851" r="0" b="-57785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121408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0291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rental_transactions 1—N condition_snapshots (PRE/POST)  ·  append-only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8517636"/>
            <a:ext cx="16596360" cy="493776"/>
            <a:chOff x="0" y="0"/>
            <a:chExt cx="22128480" cy="6583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2055328" y="0"/>
                  </a:lnTo>
                  <a:cubicBezTo>
                    <a:pt x="22095715" y="0"/>
                    <a:pt x="22128480" y="32766"/>
                    <a:pt x="22128480" y="73152"/>
                  </a:cubicBezTo>
                  <a:lnTo>
                    <a:pt x="22128480" y="585216"/>
                  </a:lnTo>
                  <a:cubicBezTo>
                    <a:pt x="22128480" y="625602"/>
                    <a:pt x="22095715" y="658368"/>
                    <a:pt x="22055328" y="658368"/>
                  </a:cubicBezTo>
                  <a:lnTo>
                    <a:pt x="73152" y="658368"/>
                  </a:lnTo>
                  <a:cubicBezTo>
                    <a:pt x="32766" y="658368"/>
                    <a:pt x="0" y="625602"/>
                    <a:pt x="0" y="585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65860" y="8517636"/>
            <a:ext cx="15910560" cy="493776"/>
            <a:chOff x="0" y="0"/>
            <a:chExt cx="21214080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214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851" r="0" b="-5778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121408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0291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condition_snapshots 1—0..N ai_inspections  ·  final_condition_score diisi ADMIN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9093708"/>
            <a:ext cx="16596360" cy="493776"/>
            <a:chOff x="0" y="0"/>
            <a:chExt cx="22128480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28480" cy="658368"/>
            </a:xfrm>
            <a:custGeom>
              <a:avLst/>
              <a:gdLst/>
              <a:ahLst/>
              <a:cxnLst/>
              <a:rect r="r" b="b" t="t" l="l"/>
              <a:pathLst>
                <a:path h="658368" w="221284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22055328" y="0"/>
                  </a:lnTo>
                  <a:cubicBezTo>
                    <a:pt x="22095715" y="0"/>
                    <a:pt x="22128480" y="32766"/>
                    <a:pt x="22128480" y="73152"/>
                  </a:cubicBezTo>
                  <a:lnTo>
                    <a:pt x="22128480" y="585216"/>
                  </a:lnTo>
                  <a:cubicBezTo>
                    <a:pt x="22128480" y="625602"/>
                    <a:pt x="22095715" y="658368"/>
                    <a:pt x="22055328" y="658368"/>
                  </a:cubicBezTo>
                  <a:lnTo>
                    <a:pt x="73152" y="658368"/>
                  </a:lnTo>
                  <a:cubicBezTo>
                    <a:pt x="32766" y="658368"/>
                    <a:pt x="0" y="625602"/>
                    <a:pt x="0" y="585216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9093708"/>
            <a:ext cx="15910560" cy="493776"/>
            <a:chOff x="0" y="0"/>
            <a:chExt cx="21214080" cy="6583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214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851" r="0" b="-57785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121408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0291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rental_transactions 1—N transaction_status_logs, payments  ·  semua append-only untuk audit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TEKNOLOGI &amp; ARSITEKTUR SISTEM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Flutter untuk tampilan, Laravel untuk otak sistem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2674620" cy="1440180"/>
            <a:chOff x="0" y="0"/>
            <a:chExt cx="356616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66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5661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456432" y="0"/>
                  </a:lnTo>
                  <a:cubicBezTo>
                    <a:pt x="3517011" y="0"/>
                    <a:pt x="3566160" y="49149"/>
                    <a:pt x="3566160" y="109728"/>
                  </a:cubicBezTo>
                  <a:lnTo>
                    <a:pt x="3566160" y="1810512"/>
                  </a:lnTo>
                  <a:cubicBezTo>
                    <a:pt x="3566160" y="1871091"/>
                    <a:pt x="3517011" y="1920240"/>
                    <a:pt x="34564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702052"/>
            <a:ext cx="2263140" cy="342900"/>
            <a:chOff x="0" y="0"/>
            <a:chExt cx="301752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01752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086100"/>
            <a:ext cx="2263140" cy="754380"/>
            <a:chOff x="0" y="0"/>
            <a:chExt cx="301752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0175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Flutter (Android &amp; iOS, 1 codebase)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03320" y="2537460"/>
            <a:ext cx="2674620" cy="1440180"/>
            <a:chOff x="0" y="0"/>
            <a:chExt cx="3566160" cy="1920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66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5661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456432" y="0"/>
                  </a:lnTo>
                  <a:cubicBezTo>
                    <a:pt x="3517011" y="0"/>
                    <a:pt x="3566160" y="49149"/>
                    <a:pt x="3566160" y="109728"/>
                  </a:cubicBezTo>
                  <a:lnTo>
                    <a:pt x="3566160" y="1810512"/>
                  </a:lnTo>
                  <a:cubicBezTo>
                    <a:pt x="3566160" y="1871091"/>
                    <a:pt x="3517011" y="1920240"/>
                    <a:pt x="34564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909060" y="2702052"/>
            <a:ext cx="2263140" cy="342900"/>
            <a:chOff x="0" y="0"/>
            <a:chExt cx="3017520" cy="45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01752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API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09060" y="3086100"/>
            <a:ext cx="2263140" cy="754380"/>
            <a:chOff x="0" y="0"/>
            <a:chExt cx="30175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0175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PHP 8.3 + Laravel 11/12 — /api/v1 REST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83680" y="2537460"/>
            <a:ext cx="2674620" cy="1440180"/>
            <a:chOff x="0" y="0"/>
            <a:chExt cx="3566160" cy="1920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66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5661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456432" y="0"/>
                  </a:lnTo>
                  <a:cubicBezTo>
                    <a:pt x="3517011" y="0"/>
                    <a:pt x="3566160" y="49149"/>
                    <a:pt x="3566160" y="109728"/>
                  </a:cubicBezTo>
                  <a:lnTo>
                    <a:pt x="3566160" y="1810512"/>
                  </a:lnTo>
                  <a:cubicBezTo>
                    <a:pt x="3566160" y="1871091"/>
                    <a:pt x="3517011" y="1920240"/>
                    <a:pt x="34564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89420" y="2702052"/>
            <a:ext cx="2263140" cy="342900"/>
            <a:chOff x="0" y="0"/>
            <a:chExt cx="301752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01752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MGMT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89420" y="3086100"/>
            <a:ext cx="2263140" cy="754380"/>
            <a:chOff x="0" y="0"/>
            <a:chExt cx="301752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30175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Riverpod / Bloc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4183380"/>
            <a:ext cx="2674620" cy="1440180"/>
            <a:chOff x="0" y="0"/>
            <a:chExt cx="3566160" cy="192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66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5661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456432" y="0"/>
                  </a:lnTo>
                  <a:cubicBezTo>
                    <a:pt x="3517011" y="0"/>
                    <a:pt x="3566160" y="49149"/>
                    <a:pt x="3566160" y="109728"/>
                  </a:cubicBezTo>
                  <a:lnTo>
                    <a:pt x="3566160" y="1810512"/>
                  </a:lnTo>
                  <a:cubicBezTo>
                    <a:pt x="3566160" y="1871091"/>
                    <a:pt x="3517011" y="1920240"/>
                    <a:pt x="34564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28700" y="4347972"/>
            <a:ext cx="2263140" cy="342900"/>
            <a:chOff x="0" y="0"/>
            <a:chExt cx="3017520" cy="457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01752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4732020"/>
            <a:ext cx="2263140" cy="754380"/>
            <a:chOff x="0" y="0"/>
            <a:chExt cx="301752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30175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(PostgreSQL opsional)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03320" y="4183380"/>
            <a:ext cx="2674620" cy="1440180"/>
            <a:chOff x="0" y="0"/>
            <a:chExt cx="356616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66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5661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456432" y="0"/>
                  </a:lnTo>
                  <a:cubicBezTo>
                    <a:pt x="3517011" y="0"/>
                    <a:pt x="3566160" y="49149"/>
                    <a:pt x="3566160" y="109728"/>
                  </a:cubicBezTo>
                  <a:lnTo>
                    <a:pt x="3566160" y="1810512"/>
                  </a:lnTo>
                  <a:cubicBezTo>
                    <a:pt x="3566160" y="1871091"/>
                    <a:pt x="3517011" y="1920240"/>
                    <a:pt x="34564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909060" y="4347972"/>
            <a:ext cx="2263140" cy="342900"/>
            <a:chOff x="0" y="0"/>
            <a:chExt cx="3017520" cy="457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01752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09060" y="4732020"/>
            <a:ext cx="2263140" cy="754380"/>
            <a:chOff x="0" y="0"/>
            <a:chExt cx="301752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0175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 API — via queue job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83680" y="4183380"/>
            <a:ext cx="2674620" cy="1440180"/>
            <a:chOff x="0" y="0"/>
            <a:chExt cx="3566160" cy="1920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66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35661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456432" y="0"/>
                  </a:lnTo>
                  <a:cubicBezTo>
                    <a:pt x="3517011" y="0"/>
                    <a:pt x="3566160" y="49149"/>
                    <a:pt x="3566160" y="109728"/>
                  </a:cubicBezTo>
                  <a:lnTo>
                    <a:pt x="3566160" y="1810512"/>
                  </a:lnTo>
                  <a:cubicBezTo>
                    <a:pt x="3566160" y="1871091"/>
                    <a:pt x="3517011" y="1920240"/>
                    <a:pt x="34564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789420" y="4347972"/>
            <a:ext cx="2263140" cy="342900"/>
            <a:chOff x="0" y="0"/>
            <a:chExt cx="301752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17520" cy="457200"/>
            </a:xfrm>
            <a:custGeom>
              <a:avLst/>
              <a:gdLst/>
              <a:ahLst/>
              <a:cxnLst/>
              <a:rect r="r" b="b" t="t" l="l"/>
              <a:pathLst>
                <a:path h="45720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01752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89420" y="4732020"/>
            <a:ext cx="2263140" cy="754380"/>
            <a:chOff x="0" y="0"/>
            <a:chExt cx="301752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30175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 b="true">
                  <a:solidFill>
                    <a:srgbClr val="20291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Laravel Sanctum token + Policy/Gate RBAC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06940" y="2537460"/>
            <a:ext cx="7612380" cy="411480"/>
            <a:chOff x="0" y="0"/>
            <a:chExt cx="1014984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49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1498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5B6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ALUR KETERGANTUNGAN SATU ARAH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806940" y="3017520"/>
            <a:ext cx="7612380" cy="521208"/>
            <a:chOff x="0" y="0"/>
            <a:chExt cx="10149840" cy="6949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1498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1498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058400" y="0"/>
                  </a:lnTo>
                  <a:cubicBezTo>
                    <a:pt x="10108946" y="0"/>
                    <a:pt x="10149840" y="40894"/>
                    <a:pt x="10149840" y="91440"/>
                  </a:cubicBezTo>
                  <a:lnTo>
                    <a:pt x="10149840" y="603504"/>
                  </a:lnTo>
                  <a:cubicBezTo>
                    <a:pt x="10149840" y="654050"/>
                    <a:pt x="10108946" y="694944"/>
                    <a:pt x="10058400" y="694944"/>
                  </a:cubicBezTo>
                  <a:lnTo>
                    <a:pt x="91440" y="694944"/>
                  </a:lnTo>
                  <a:cubicBezTo>
                    <a:pt x="40894" y="694944"/>
                    <a:pt x="0" y="654050"/>
                    <a:pt x="0" y="603504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12680" y="3017520"/>
            <a:ext cx="7200900" cy="521208"/>
            <a:chOff x="0" y="0"/>
            <a:chExt cx="9601200" cy="6949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01200" cy="694944"/>
            </a:xfrm>
            <a:custGeom>
              <a:avLst/>
              <a:gdLst/>
              <a:ahLst/>
              <a:cxnLst/>
              <a:rect r="r" b="b" t="t" l="l"/>
              <a:pathLst>
                <a:path h="694944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01" r="0" b="-21920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6012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 (Flutter App)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806940" y="3538728"/>
            <a:ext cx="7612380" cy="164592"/>
            <a:chOff x="0" y="0"/>
            <a:chExt cx="10149840" cy="2194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149840" cy="219456"/>
            </a:xfrm>
            <a:custGeom>
              <a:avLst/>
              <a:gdLst/>
              <a:ahLst/>
              <a:cxnLst/>
              <a:rect r="r" b="b" t="t" l="l"/>
              <a:pathLst>
                <a:path h="21945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1182" r="0" b="-85118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149840" cy="2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C5F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806940" y="3703320"/>
            <a:ext cx="7612380" cy="521208"/>
            <a:chOff x="0" y="0"/>
            <a:chExt cx="10149840" cy="6949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1498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1498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058400" y="0"/>
                  </a:lnTo>
                  <a:cubicBezTo>
                    <a:pt x="10108946" y="0"/>
                    <a:pt x="10149840" y="40894"/>
                    <a:pt x="10149840" y="91440"/>
                  </a:cubicBezTo>
                  <a:lnTo>
                    <a:pt x="10149840" y="603504"/>
                  </a:lnTo>
                  <a:cubicBezTo>
                    <a:pt x="10149840" y="654050"/>
                    <a:pt x="10108946" y="694944"/>
                    <a:pt x="10058400" y="694944"/>
                  </a:cubicBezTo>
                  <a:lnTo>
                    <a:pt x="91440" y="694944"/>
                  </a:lnTo>
                  <a:cubicBezTo>
                    <a:pt x="40894" y="694944"/>
                    <a:pt x="0" y="654050"/>
                    <a:pt x="0" y="603504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012680" y="3703320"/>
            <a:ext cx="7200900" cy="521208"/>
            <a:chOff x="0" y="0"/>
            <a:chExt cx="9601200" cy="6949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601200" cy="694944"/>
            </a:xfrm>
            <a:custGeom>
              <a:avLst/>
              <a:gdLst/>
              <a:ahLst/>
              <a:cxnLst/>
              <a:rect r="r" b="b" t="t" l="l"/>
              <a:pathLst>
                <a:path h="694944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01" r="0" b="-2192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6012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Controller API</a:t>
              </a:r>
            </a:p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(tipis, &lt;30 baris)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06940" y="4224528"/>
            <a:ext cx="7612380" cy="164592"/>
            <a:chOff x="0" y="0"/>
            <a:chExt cx="10149840" cy="2194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149840" cy="219456"/>
            </a:xfrm>
            <a:custGeom>
              <a:avLst/>
              <a:gdLst/>
              <a:ahLst/>
              <a:cxnLst/>
              <a:rect r="r" b="b" t="t" l="l"/>
              <a:pathLst>
                <a:path h="21945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1182" r="0" b="-85118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149840" cy="2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C5F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806940" y="4389120"/>
            <a:ext cx="7612380" cy="521208"/>
            <a:chOff x="0" y="0"/>
            <a:chExt cx="10149840" cy="69494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1498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1498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058400" y="0"/>
                  </a:lnTo>
                  <a:cubicBezTo>
                    <a:pt x="10108946" y="0"/>
                    <a:pt x="10149840" y="40894"/>
                    <a:pt x="10149840" y="91440"/>
                  </a:cubicBezTo>
                  <a:lnTo>
                    <a:pt x="10149840" y="603504"/>
                  </a:lnTo>
                  <a:cubicBezTo>
                    <a:pt x="10149840" y="654050"/>
                    <a:pt x="10108946" y="694944"/>
                    <a:pt x="10058400" y="694944"/>
                  </a:cubicBezTo>
                  <a:lnTo>
                    <a:pt x="91440" y="694944"/>
                  </a:lnTo>
                  <a:cubicBezTo>
                    <a:pt x="40894" y="694944"/>
                    <a:pt x="0" y="654050"/>
                    <a:pt x="0" y="603504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12680" y="4389120"/>
            <a:ext cx="7200900" cy="521208"/>
            <a:chOff x="0" y="0"/>
            <a:chExt cx="9601200" cy="6949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601200" cy="694944"/>
            </a:xfrm>
            <a:custGeom>
              <a:avLst/>
              <a:gdLst/>
              <a:ahLst/>
              <a:cxnLst/>
              <a:rect r="r" b="b" t="t" l="l"/>
              <a:pathLst>
                <a:path h="694944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01" r="0" b="-21920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6012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Service</a:t>
              </a:r>
            </a:p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(algoritma murni)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06940" y="4910328"/>
            <a:ext cx="7612380" cy="164592"/>
            <a:chOff x="0" y="0"/>
            <a:chExt cx="10149840" cy="2194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149840" cy="219456"/>
            </a:xfrm>
            <a:custGeom>
              <a:avLst/>
              <a:gdLst/>
              <a:ahLst/>
              <a:cxnLst/>
              <a:rect r="r" b="b" t="t" l="l"/>
              <a:pathLst>
                <a:path h="21945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1182" r="0" b="-85118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149840" cy="2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C5F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06940" y="5074920"/>
            <a:ext cx="7612380" cy="521208"/>
            <a:chOff x="0" y="0"/>
            <a:chExt cx="10149840" cy="6949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149840" cy="694944"/>
            </a:xfrm>
            <a:custGeom>
              <a:avLst/>
              <a:gdLst/>
              <a:ahLst/>
              <a:cxnLst/>
              <a:rect r="r" b="b" t="t" l="l"/>
              <a:pathLst>
                <a:path h="694944" w="1014984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0058400" y="0"/>
                  </a:lnTo>
                  <a:cubicBezTo>
                    <a:pt x="10108946" y="0"/>
                    <a:pt x="10149840" y="40894"/>
                    <a:pt x="10149840" y="91440"/>
                  </a:cubicBezTo>
                  <a:lnTo>
                    <a:pt x="10149840" y="603504"/>
                  </a:lnTo>
                  <a:cubicBezTo>
                    <a:pt x="10149840" y="654050"/>
                    <a:pt x="10108946" y="694944"/>
                    <a:pt x="10058400" y="694944"/>
                  </a:cubicBezTo>
                  <a:lnTo>
                    <a:pt x="91440" y="694944"/>
                  </a:lnTo>
                  <a:cubicBezTo>
                    <a:pt x="40894" y="694944"/>
                    <a:pt x="0" y="654050"/>
                    <a:pt x="0" y="603504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012680" y="5074920"/>
            <a:ext cx="7200900" cy="521208"/>
            <a:chOff x="0" y="0"/>
            <a:chExt cx="9601200" cy="6949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601200" cy="694944"/>
            </a:xfrm>
            <a:custGeom>
              <a:avLst/>
              <a:gdLst/>
              <a:ahLst/>
              <a:cxnLst/>
              <a:rect r="r" b="b" t="t" l="l"/>
              <a:pathLst>
                <a:path h="694944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01" r="0" b="-21920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60120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→ DB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22960" y="5966460"/>
            <a:ext cx="16596360" cy="3497580"/>
            <a:chOff x="0" y="0"/>
            <a:chExt cx="22128480" cy="46634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1284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4517136"/>
                  </a:lnTo>
                  <a:cubicBezTo>
                    <a:pt x="22128480" y="4597908"/>
                    <a:pt x="22062948" y="4663440"/>
                    <a:pt x="219821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1D3F1E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34440" y="6240780"/>
            <a:ext cx="10972800" cy="411480"/>
            <a:chOff x="0" y="0"/>
            <a:chExt cx="146304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app/Domain/ — INTI YANG DINILAI DOSEN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34440" y="6789420"/>
            <a:ext cx="15499080" cy="576072"/>
            <a:chOff x="0" y="0"/>
            <a:chExt cx="20665440" cy="76809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665439" cy="768096"/>
            </a:xfrm>
            <a:custGeom>
              <a:avLst/>
              <a:gdLst/>
              <a:ahLst/>
              <a:cxnLst/>
              <a:rect r="r" b="b" t="t" l="l"/>
              <a:pathLst>
                <a:path h="768096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40" r="0" b="-47424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206654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Matching/</a:t>
              </a: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SmartMatchService, ScoringEngine, BundleBuilder — ALG-1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34440" y="7420356"/>
            <a:ext cx="15499080" cy="576072"/>
            <a:chOff x="0" y="0"/>
            <a:chExt cx="20665440" cy="76809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665439" cy="768096"/>
            </a:xfrm>
            <a:custGeom>
              <a:avLst/>
              <a:gdLst/>
              <a:ahLst/>
              <a:cxnLst/>
              <a:rect r="r" b="b" t="t" l="l"/>
              <a:pathLst>
                <a:path h="768096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40" r="0" b="-47424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206654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Availability/</a:t>
              </a: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AvailabilityService (sweep-line), BookingLockService — ALG-2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34440" y="8051292"/>
            <a:ext cx="15499080" cy="576072"/>
            <a:chOff x="0" y="0"/>
            <a:chExt cx="20665440" cy="76809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665439" cy="768096"/>
            </a:xfrm>
            <a:custGeom>
              <a:avLst/>
              <a:gdLst/>
              <a:ahLst/>
              <a:cxnLst/>
              <a:rect r="r" b="b" t="t" l="l"/>
              <a:pathLst>
                <a:path h="768096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40" r="0" b="-47424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206654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Condition/</a:t>
              </a: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ChecklistScorer, ConditionDeltaService, AiHumanFusionResolver — ALG-3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34440" y="8682228"/>
            <a:ext cx="15499080" cy="576072"/>
            <a:chOff x="0" y="0"/>
            <a:chExt cx="20665440" cy="76809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0665439" cy="768096"/>
            </a:xfrm>
            <a:custGeom>
              <a:avLst/>
              <a:gdLst/>
              <a:ahLst/>
              <a:cxnLst/>
              <a:rect r="r" b="b" t="t" l="l"/>
              <a:pathLst>
                <a:path h="768096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40" r="0" b="-47424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2066544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Rental/</a:t>
              </a: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RentalStateMachine — satu-satunya pintu ubah status transaksi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34440" y="9052560"/>
            <a:ext cx="15499080" cy="411480"/>
            <a:chOff x="0" y="0"/>
            <a:chExt cx="2066544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665439" cy="548640"/>
            </a:xfrm>
            <a:custGeom>
              <a:avLst/>
              <a:gdLst/>
              <a:ahLst/>
              <a:cxnLst/>
              <a:rect r="r" b="b" t="t" l="l"/>
              <a:pathLst>
                <a:path h="54864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36" r="0" b="-68393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06654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D7E5C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Bebas framework → dapat di-unit-test tanpa DB &amp; browser. Ini yang bisa Anda tunjuk saat presentasi: "inilah kontribusi algoritmik saya."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KEAMANAN SISTEM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dari HP user tidak pernah dipercaya begitu saja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161020" cy="1440180"/>
            <a:chOff x="0" y="0"/>
            <a:chExt cx="1088136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702052"/>
            <a:ext cx="548640" cy="548640"/>
            <a:chOff x="0" y="0"/>
            <a:chExt cx="7315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2702052"/>
            <a:ext cx="548640" cy="548640"/>
            <a:chOff x="0" y="0"/>
            <a:chExt cx="73152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83080" y="2674620"/>
            <a:ext cx="6995160" cy="480060"/>
            <a:chOff x="0" y="0"/>
            <a:chExt cx="932688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Ubah harga curang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291840"/>
            <a:ext cx="7749540" cy="589788"/>
            <a:chOff x="0" y="0"/>
            <a:chExt cx="10332720" cy="7863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 selalu hitung ulang harga sendiri, bukan percaya kiriman app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58300" y="2537460"/>
            <a:ext cx="8161020" cy="1440180"/>
            <a:chOff x="0" y="0"/>
            <a:chExt cx="10881360" cy="192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64040" y="2702052"/>
            <a:ext cx="548640" cy="548640"/>
            <a:chOff x="0" y="0"/>
            <a:chExt cx="731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64040" y="2702052"/>
            <a:ext cx="548640" cy="548640"/>
            <a:chOff x="0" y="0"/>
            <a:chExt cx="7315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18420" y="2674620"/>
            <a:ext cx="6995160" cy="480060"/>
            <a:chOff x="0" y="0"/>
            <a:chExt cx="932688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Ubah jumlah stok curang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64040" y="3291840"/>
            <a:ext cx="7749540" cy="589788"/>
            <a:chOff x="0" y="0"/>
            <a:chExt cx="10332720" cy="7863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Stok dihitung dari unit alat asli, bukan angka yang bisa diedit bebas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4183380"/>
            <a:ext cx="8161020" cy="1440180"/>
            <a:chOff x="0" y="0"/>
            <a:chExt cx="10881360" cy="1920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28700" y="4347972"/>
            <a:ext cx="548640" cy="548640"/>
            <a:chOff x="0" y="0"/>
            <a:chExt cx="731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" y="4347972"/>
            <a:ext cx="548640" cy="548640"/>
            <a:chOff x="0" y="0"/>
            <a:chExt cx="731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83080" y="4320540"/>
            <a:ext cx="6995160" cy="480060"/>
            <a:chOff x="0" y="0"/>
            <a:chExt cx="932688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Alat dipesan dobel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" y="4937760"/>
            <a:ext cx="7749540" cy="589788"/>
            <a:chOff x="0" y="0"/>
            <a:chExt cx="10332720" cy="7863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Dikunci saat diproses + dicek ulang + diuji dengan pesanan bersamaan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58300" y="4183380"/>
            <a:ext cx="8161020" cy="1440180"/>
            <a:chOff x="0" y="0"/>
            <a:chExt cx="10881360" cy="1920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64040" y="4347972"/>
            <a:ext cx="548640" cy="548640"/>
            <a:chOff x="0" y="0"/>
            <a:chExt cx="7315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64040" y="4347972"/>
            <a:ext cx="548640" cy="548640"/>
            <a:chOff x="0" y="0"/>
            <a:chExt cx="731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18420" y="4320540"/>
            <a:ext cx="6995160" cy="480060"/>
            <a:chOff x="0" y="0"/>
            <a:chExt cx="932688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 file berbahaya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64040" y="4937760"/>
            <a:ext cx="7749540" cy="589788"/>
            <a:chOff x="0" y="0"/>
            <a:chExt cx="10332720" cy="78638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difilter ketat, foto diproses ulang, disimpan di tempat aman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5829300"/>
            <a:ext cx="8161020" cy="1440180"/>
            <a:chOff x="0" y="0"/>
            <a:chExt cx="10881360" cy="1920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28700" y="5993892"/>
            <a:ext cx="548640" cy="548640"/>
            <a:chOff x="0" y="0"/>
            <a:chExt cx="7315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28700" y="5993892"/>
            <a:ext cx="548640" cy="548640"/>
            <a:chOff x="0" y="0"/>
            <a:chExt cx="73152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783080" y="5966460"/>
            <a:ext cx="6995160" cy="480060"/>
            <a:chOff x="0" y="0"/>
            <a:chExt cx="932688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Salah akses antar peran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28700" y="6583680"/>
            <a:ext cx="7749540" cy="589788"/>
            <a:chOff x="0" y="0"/>
            <a:chExt cx="10332720" cy="7863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Provider A tidak bisa buka/ubah data milik provider B, dst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258300" y="5829300"/>
            <a:ext cx="8161020" cy="1440180"/>
            <a:chOff x="0" y="0"/>
            <a:chExt cx="10881360" cy="1920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64040" y="5993892"/>
            <a:ext cx="548640" cy="548640"/>
            <a:chOff x="0" y="0"/>
            <a:chExt cx="73152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464040" y="5993892"/>
            <a:ext cx="548640" cy="548640"/>
            <a:chOff x="0" y="0"/>
            <a:chExt cx="731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18420" y="5966460"/>
            <a:ext cx="6995160" cy="480060"/>
            <a:chOff x="0" y="0"/>
            <a:chExt cx="9326880" cy="6400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Bocor data pribadi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64040" y="6583680"/>
            <a:ext cx="7749540" cy="589788"/>
            <a:chOff x="0" y="0"/>
            <a:chExt cx="10332720" cy="7863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NIK &amp; data sensitif disamarkan, akses admin selalu tercatat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7475220"/>
            <a:ext cx="8161020" cy="1440180"/>
            <a:chOff x="0" y="0"/>
            <a:chExt cx="10881360" cy="19202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28700" y="7639812"/>
            <a:ext cx="548640" cy="548640"/>
            <a:chOff x="0" y="0"/>
            <a:chExt cx="73152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28700" y="7639812"/>
            <a:ext cx="548640" cy="548640"/>
            <a:chOff x="0" y="0"/>
            <a:chExt cx="73152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783080" y="7612380"/>
            <a:ext cx="6995160" cy="480060"/>
            <a:chOff x="0" y="0"/>
            <a:chExt cx="9326880" cy="6400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dipakai berlebihan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28700" y="8229600"/>
            <a:ext cx="7749540" cy="589788"/>
            <a:chOff x="0" y="0"/>
            <a:chExt cx="10332720" cy="7863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 batas pemakaian AI per user, supaya biaya tidak membengkak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258300" y="7475220"/>
            <a:ext cx="8161020" cy="1440180"/>
            <a:chOff x="0" y="0"/>
            <a:chExt cx="10881360" cy="19202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8813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8813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0771632" y="0"/>
                  </a:lnTo>
                  <a:cubicBezTo>
                    <a:pt x="10832211" y="0"/>
                    <a:pt x="10881360" y="49149"/>
                    <a:pt x="10881360" y="109728"/>
                  </a:cubicBezTo>
                  <a:lnTo>
                    <a:pt x="10881360" y="1810512"/>
                  </a:lnTo>
                  <a:cubicBezTo>
                    <a:pt x="10881360" y="1871091"/>
                    <a:pt x="10832211" y="1920240"/>
                    <a:pt x="10771632" y="1920240"/>
                  </a:cubicBezTo>
                  <a:lnTo>
                    <a:pt x="109728" y="1920240"/>
                  </a:lnTo>
                  <a:cubicBezTo>
                    <a:pt x="49149" y="1920240"/>
                    <a:pt x="0" y="1871091"/>
                    <a:pt x="0" y="1810512"/>
                  </a:cubicBezTo>
                  <a:close/>
                </a:path>
              </a:pathLst>
            </a:custGeom>
            <a:solidFill>
              <a:srgbClr val="EAF1E4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464040" y="7639812"/>
            <a:ext cx="548640" cy="548640"/>
            <a:chOff x="0" y="0"/>
            <a:chExt cx="73152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464040" y="7639812"/>
            <a:ext cx="548640" cy="548640"/>
            <a:chOff x="0" y="0"/>
            <a:chExt cx="73152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218420" y="7612380"/>
            <a:ext cx="6995160" cy="480060"/>
            <a:chOff x="0" y="0"/>
            <a:chExt cx="9326880" cy="6400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"diperdaya" lewat teks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464040" y="8229600"/>
            <a:ext cx="7749540" cy="589788"/>
            <a:chOff x="0" y="0"/>
            <a:chExt cx="10332720" cy="7863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332720" cy="786384"/>
            </a:xfrm>
            <a:custGeom>
              <a:avLst/>
              <a:gdLst/>
              <a:ahLst/>
              <a:cxnLst/>
              <a:rect r="r" b="b" t="t" l="l"/>
              <a:pathLst>
                <a:path h="786384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24" r="0" b="-20602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10332720" cy="834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Perintah AI dipisah dari teks user, AI tidak pernah tahu harga/denda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822960" y="9121140"/>
            <a:ext cx="16596360" cy="754380"/>
            <a:chOff x="0" y="0"/>
            <a:chExt cx="22128480" cy="10058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128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21284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b="true" sz="1575" i="true">
                  <a:solidFill>
                    <a:srgbClr val="D97B29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Argumen pertahanan terkuat: skor akhir selalu dari manusia — bahkan bila AI sepenuhnya dibajak, dampak maksimalnya hanya "kasus diperiksa admin lebih cepat/lambat", tidak ada dampak finansial langsung.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PRIORITAS &amp; 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157984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Satu siklus sewa lengkap dulu, baru fitur tambahan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2057400" cy="960120"/>
            <a:chOff x="0" y="0"/>
            <a:chExt cx="274320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3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7432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651760" y="0"/>
                  </a:lnTo>
                  <a:cubicBezTo>
                    <a:pt x="2702306" y="0"/>
                    <a:pt x="2743200" y="40894"/>
                    <a:pt x="2743200" y="91440"/>
                  </a:cubicBezTo>
                  <a:lnTo>
                    <a:pt x="2743200" y="1188720"/>
                  </a:lnTo>
                  <a:cubicBezTo>
                    <a:pt x="2743200" y="1239266"/>
                    <a:pt x="2702306" y="1280160"/>
                    <a:pt x="2651760" y="1280160"/>
                  </a:cubicBezTo>
                  <a:lnTo>
                    <a:pt x="91440" y="1280160"/>
                  </a:lnTo>
                  <a:cubicBezTo>
                    <a:pt x="40894" y="1280160"/>
                    <a:pt x="0" y="1239266"/>
                    <a:pt x="0" y="1188720"/>
                  </a:cubicBezTo>
                  <a:close/>
                </a:path>
              </a:pathLst>
            </a:custGeom>
            <a:solidFill>
              <a:srgbClr val="B23A2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537460"/>
            <a:ext cx="2057400" cy="960120"/>
            <a:chOff x="0" y="0"/>
            <a:chExt cx="274320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3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432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WAJIB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86100" y="2537460"/>
            <a:ext cx="14333220" cy="960120"/>
            <a:chOff x="0" y="0"/>
            <a:chExt cx="191109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1095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1109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9019520" y="0"/>
                  </a:lnTo>
                  <a:cubicBezTo>
                    <a:pt x="19070065" y="0"/>
                    <a:pt x="19110959" y="40894"/>
                    <a:pt x="19110959" y="91440"/>
                  </a:cubicBezTo>
                  <a:lnTo>
                    <a:pt x="19110959" y="1188720"/>
                  </a:lnTo>
                  <a:cubicBezTo>
                    <a:pt x="19110959" y="1239266"/>
                    <a:pt x="19070065" y="1280160"/>
                    <a:pt x="19019520" y="1280160"/>
                  </a:cubicBezTo>
                  <a:lnTo>
                    <a:pt x="91440" y="1280160"/>
                  </a:lnTo>
                  <a:cubicBezTo>
                    <a:pt x="40894" y="1280160"/>
                    <a:pt x="0" y="1239266"/>
                    <a:pt x="0" y="1188720"/>
                  </a:cubicBezTo>
                  <a:close/>
                </a:path>
              </a:pathLst>
            </a:custGeom>
            <a:solidFill>
              <a:srgbClr val="F5F8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360420" y="2537460"/>
            <a:ext cx="13784580" cy="960120"/>
            <a:chOff x="0" y="0"/>
            <a:chExt cx="1837944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794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379439">
                  <a:moveTo>
                    <a:pt x="0" y="0"/>
                  </a:moveTo>
                  <a:lnTo>
                    <a:pt x="18379439" y="0"/>
                  </a:lnTo>
                  <a:lnTo>
                    <a:pt x="183794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49" r="0" b="-2297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83794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3 peran · cek ketersediaan alat (anti bentrok jadwal) · booking sampai bayar · alur status transaksi · AI pahami kebutuhan customer · foto kondisi sebelum/sesudah sewa · AI baca foto kerusakan · bandingkan kondisi alat · review &amp; rating · dashboard admin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703320"/>
            <a:ext cx="2057400" cy="960120"/>
            <a:chOff x="0" y="0"/>
            <a:chExt cx="27432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3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7432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651760" y="0"/>
                  </a:lnTo>
                  <a:cubicBezTo>
                    <a:pt x="2702306" y="0"/>
                    <a:pt x="2743200" y="40894"/>
                    <a:pt x="2743200" y="91440"/>
                  </a:cubicBezTo>
                  <a:lnTo>
                    <a:pt x="2743200" y="1188720"/>
                  </a:lnTo>
                  <a:cubicBezTo>
                    <a:pt x="2743200" y="1239266"/>
                    <a:pt x="2702306" y="1280160"/>
                    <a:pt x="2651760" y="1280160"/>
                  </a:cubicBezTo>
                  <a:lnTo>
                    <a:pt x="91440" y="1280160"/>
                  </a:lnTo>
                  <a:cubicBezTo>
                    <a:pt x="40894" y="1280160"/>
                    <a:pt x="0" y="1239266"/>
                    <a:pt x="0" y="118872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703320"/>
            <a:ext cx="2057400" cy="960120"/>
            <a:chOff x="0" y="0"/>
            <a:chExt cx="274320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3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7432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LANJUTAN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086100" y="3703320"/>
            <a:ext cx="14333220" cy="960120"/>
            <a:chOff x="0" y="0"/>
            <a:chExt cx="191109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1095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1109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9019520" y="0"/>
                  </a:lnTo>
                  <a:cubicBezTo>
                    <a:pt x="19070065" y="0"/>
                    <a:pt x="19110959" y="40894"/>
                    <a:pt x="19110959" y="91440"/>
                  </a:cubicBezTo>
                  <a:lnTo>
                    <a:pt x="19110959" y="1188720"/>
                  </a:lnTo>
                  <a:cubicBezTo>
                    <a:pt x="19110959" y="1239266"/>
                    <a:pt x="19070065" y="1280160"/>
                    <a:pt x="19019520" y="1280160"/>
                  </a:cubicBezTo>
                  <a:lnTo>
                    <a:pt x="91440" y="1280160"/>
                  </a:lnTo>
                  <a:cubicBezTo>
                    <a:pt x="40894" y="1280160"/>
                    <a:pt x="0" y="1239266"/>
                    <a:pt x="0" y="1188720"/>
                  </a:cubicBezTo>
                  <a:close/>
                </a:path>
              </a:pathLst>
            </a:custGeom>
            <a:solidFill>
              <a:srgbClr val="F5F8F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360420" y="3703320"/>
            <a:ext cx="13784580" cy="960120"/>
            <a:chOff x="0" y="0"/>
            <a:chExt cx="1837944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3794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379439">
                  <a:moveTo>
                    <a:pt x="0" y="0"/>
                  </a:moveTo>
                  <a:lnTo>
                    <a:pt x="18379439" y="0"/>
                  </a:lnTo>
                  <a:lnTo>
                    <a:pt x="183794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49" r="0" b="-22974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83794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bantu isi data alat dari foto · kalender ketersediaan 90 hari · cari alat di peta · rincian alasan rekomendasi · alur pengaduan lengkap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4869180"/>
            <a:ext cx="2057400" cy="960120"/>
            <a:chOff x="0" y="0"/>
            <a:chExt cx="274320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3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7432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651760" y="0"/>
                  </a:lnTo>
                  <a:cubicBezTo>
                    <a:pt x="2702306" y="0"/>
                    <a:pt x="2743200" y="40894"/>
                    <a:pt x="2743200" y="91440"/>
                  </a:cubicBezTo>
                  <a:lnTo>
                    <a:pt x="2743200" y="1188720"/>
                  </a:lnTo>
                  <a:cubicBezTo>
                    <a:pt x="2743200" y="1239266"/>
                    <a:pt x="2702306" y="1280160"/>
                    <a:pt x="2651760" y="1280160"/>
                  </a:cubicBezTo>
                  <a:lnTo>
                    <a:pt x="91440" y="1280160"/>
                  </a:lnTo>
                  <a:cubicBezTo>
                    <a:pt x="40894" y="1280160"/>
                    <a:pt x="0" y="1239266"/>
                    <a:pt x="0" y="11887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4869180"/>
            <a:ext cx="2057400" cy="960120"/>
            <a:chOff x="0" y="0"/>
            <a:chExt cx="274320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43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74320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OPSIONAL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086100" y="4869180"/>
            <a:ext cx="14333220" cy="960120"/>
            <a:chOff x="0" y="0"/>
            <a:chExt cx="1911096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11095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110959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9019520" y="0"/>
                  </a:lnTo>
                  <a:cubicBezTo>
                    <a:pt x="19070065" y="0"/>
                    <a:pt x="19110959" y="40894"/>
                    <a:pt x="19110959" y="91440"/>
                  </a:cubicBezTo>
                  <a:lnTo>
                    <a:pt x="19110959" y="1188720"/>
                  </a:lnTo>
                  <a:cubicBezTo>
                    <a:pt x="19110959" y="1239266"/>
                    <a:pt x="19070065" y="1280160"/>
                    <a:pt x="19019520" y="1280160"/>
                  </a:cubicBezTo>
                  <a:lnTo>
                    <a:pt x="91440" y="1280160"/>
                  </a:lnTo>
                  <a:cubicBezTo>
                    <a:pt x="40894" y="1280160"/>
                    <a:pt x="0" y="1239266"/>
                    <a:pt x="0" y="1188720"/>
                  </a:cubicBezTo>
                  <a:close/>
                </a:path>
              </a:pathLst>
            </a:custGeom>
            <a:solidFill>
              <a:srgbClr val="F5F8F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360420" y="4869180"/>
            <a:ext cx="13784580" cy="960120"/>
            <a:chOff x="0" y="0"/>
            <a:chExt cx="18379440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3794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379439">
                  <a:moveTo>
                    <a:pt x="0" y="0"/>
                  </a:moveTo>
                  <a:lnTo>
                    <a:pt x="18379439" y="0"/>
                  </a:lnTo>
                  <a:lnTo>
                    <a:pt x="183794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749" r="0" b="-2297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837944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20291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Pembayaran online sungguhan · chat langsung · daftar alat favorit · scan QR serah terima · bisa dipakai offline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6240780"/>
            <a:ext cx="15087600" cy="411480"/>
            <a:chOff x="0" y="0"/>
            <a:chExt cx="201168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1680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4451" r="0" b="-6644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0116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RENCANA KERJA — 12 MINGGU, DIKERJAKAN SENDIRI (± 15 JAM/MINGGU)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6858000"/>
            <a:ext cx="1937385" cy="1920240"/>
            <a:chOff x="0" y="0"/>
            <a:chExt cx="2583180" cy="25603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91540" y="6995160"/>
            <a:ext cx="1800225" cy="411480"/>
            <a:chOff x="0" y="0"/>
            <a:chExt cx="24003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1540" y="7475220"/>
            <a:ext cx="1800225" cy="1165860"/>
            <a:chOff x="0" y="0"/>
            <a:chExt cx="240030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Desain &amp; Fondasi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897505" y="6858000"/>
            <a:ext cx="1937385" cy="1920240"/>
            <a:chOff x="0" y="0"/>
            <a:chExt cx="2583180" cy="2560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966085" y="6995160"/>
            <a:ext cx="1800225" cy="411480"/>
            <a:chOff x="0" y="0"/>
            <a:chExt cx="24003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66085" y="7475220"/>
            <a:ext cx="1800225" cy="1165860"/>
            <a:chOff x="0" y="0"/>
            <a:chExt cx="2400300" cy="1554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Anti Bentrok Jadwal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972050" y="6858000"/>
            <a:ext cx="1937385" cy="1920240"/>
            <a:chOff x="0" y="0"/>
            <a:chExt cx="2583180" cy="25603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040630" y="6995160"/>
            <a:ext cx="1800225" cy="411480"/>
            <a:chOff x="0" y="0"/>
            <a:chExt cx="24003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040630" y="7475220"/>
            <a:ext cx="1800225" cy="1165860"/>
            <a:chOff x="0" y="0"/>
            <a:chExt cx="2400300" cy="15544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 Lengkap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046595" y="6858000"/>
            <a:ext cx="1937385" cy="1920240"/>
            <a:chOff x="0" y="0"/>
            <a:chExt cx="2583180" cy="25603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115175" y="6995160"/>
            <a:ext cx="1800225" cy="411480"/>
            <a:chOff x="0" y="0"/>
            <a:chExt cx="24003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5-6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115175" y="7475220"/>
            <a:ext cx="1800225" cy="1165860"/>
            <a:chOff x="0" y="0"/>
            <a:chExt cx="2400300" cy="15544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Rekomendasi Alat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21140" y="6858000"/>
            <a:ext cx="1937385" cy="1920240"/>
            <a:chOff x="0" y="0"/>
            <a:chExt cx="2583180" cy="25603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189720" y="6995160"/>
            <a:ext cx="1800225" cy="411480"/>
            <a:chOff x="0" y="0"/>
            <a:chExt cx="24003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7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89720" y="7475220"/>
            <a:ext cx="1800225" cy="1165860"/>
            <a:chOff x="0" y="0"/>
            <a:chExt cx="2400300" cy="15544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Pahami Kebutuhan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195685" y="6858000"/>
            <a:ext cx="1937385" cy="1920240"/>
            <a:chOff x="0" y="0"/>
            <a:chExt cx="2583180" cy="25603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264265" y="6995160"/>
            <a:ext cx="1800225" cy="411480"/>
            <a:chOff x="0" y="0"/>
            <a:chExt cx="24003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8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264265" y="7475220"/>
            <a:ext cx="1800225" cy="1165860"/>
            <a:chOff x="0" y="0"/>
            <a:chExt cx="2400300" cy="15544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 Cek Kondisi Alat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270230" y="6858000"/>
            <a:ext cx="1937385" cy="1920240"/>
            <a:chOff x="0" y="0"/>
            <a:chExt cx="2583180" cy="25603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338810" y="6995160"/>
            <a:ext cx="1800225" cy="411480"/>
            <a:chOff x="0" y="0"/>
            <a:chExt cx="240030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9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338810" y="7475220"/>
            <a:ext cx="1800225" cy="1165860"/>
            <a:chOff x="0" y="0"/>
            <a:chExt cx="2400300" cy="15544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Baca Foto Rusak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344775" y="6858000"/>
            <a:ext cx="1937385" cy="1920240"/>
            <a:chOff x="0" y="0"/>
            <a:chExt cx="2583180" cy="25603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831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8318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491740" y="0"/>
                  </a:lnTo>
                  <a:cubicBezTo>
                    <a:pt x="2542286" y="0"/>
                    <a:pt x="2583180" y="40894"/>
                    <a:pt x="2583180" y="91440"/>
                  </a:cubicBezTo>
                  <a:lnTo>
                    <a:pt x="2583180" y="2468880"/>
                  </a:lnTo>
                  <a:cubicBezTo>
                    <a:pt x="2583180" y="2519426"/>
                    <a:pt x="2542286" y="2560320"/>
                    <a:pt x="2491740" y="2560320"/>
                  </a:cubicBezTo>
                  <a:lnTo>
                    <a:pt x="91440" y="2560320"/>
                  </a:lnTo>
                  <a:cubicBezTo>
                    <a:pt x="40894" y="2560320"/>
                    <a:pt x="0" y="2519426"/>
                    <a:pt x="0" y="246888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413355" y="6995160"/>
            <a:ext cx="1800225" cy="411480"/>
            <a:chOff x="0" y="0"/>
            <a:chExt cx="240030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003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4003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Minggu 10-12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413355" y="7475220"/>
            <a:ext cx="1800225" cy="1165860"/>
            <a:chOff x="0" y="0"/>
            <a:chExt cx="2400300" cy="15544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003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400300">
                  <a:moveTo>
                    <a:pt x="0" y="0"/>
                  </a:moveTo>
                  <a:lnTo>
                    <a:pt x="2400300" y="0"/>
                  </a:lnTo>
                  <a:lnTo>
                    <a:pt x="24003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91" t="0" r="-33091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40030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1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Rapikan &amp; Selesai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22960" y="9052560"/>
            <a:ext cx="16596360" cy="480060"/>
            <a:chOff x="0" y="0"/>
            <a:chExt cx="22128480" cy="6400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128480" cy="640080"/>
            </a:xfrm>
            <a:custGeom>
              <a:avLst/>
              <a:gdLst/>
              <a:ahLst/>
              <a:cxnLst/>
              <a:rect r="r" b="b" t="t" l="l"/>
              <a:pathLst>
                <a:path h="6400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625" r="0" b="-62362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221284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5B6B5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★ Tiga titik demo untuk dosen pembimbing: akhir minggu 3, akhir minggu 6, akhir minggu 9.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7213580" y="9710928"/>
            <a:ext cx="822960" cy="411480"/>
            <a:chOff x="0" y="0"/>
            <a:chExt cx="1097280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3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6995160"/>
            <a:ext cx="9601200" cy="3977640"/>
            <a:chOff x="0" y="0"/>
            <a:chExt cx="12801600" cy="5303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5303520"/>
            </a:xfrm>
            <a:custGeom>
              <a:avLst/>
              <a:gdLst/>
              <a:ahLst/>
              <a:cxnLst/>
              <a:rect r="r" b="b" t="t" l="l"/>
              <a:pathLst>
                <a:path h="5303520" w="12801600">
                  <a:moveTo>
                    <a:pt x="0" y="5303520"/>
                  </a:moveTo>
                  <a:lnTo>
                    <a:pt x="6400800" y="0"/>
                  </a:lnTo>
                  <a:lnTo>
                    <a:pt x="12801600" y="5303520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32920" y="6720840"/>
            <a:ext cx="9052560" cy="4251960"/>
            <a:chOff x="0" y="0"/>
            <a:chExt cx="12070080" cy="5669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70080" cy="5669280"/>
            </a:xfrm>
            <a:custGeom>
              <a:avLst/>
              <a:gdLst/>
              <a:ahLst/>
              <a:cxnLst/>
              <a:rect r="r" b="b" t="t" l="l"/>
              <a:pathLst>
                <a:path h="5669280" w="12070080">
                  <a:moveTo>
                    <a:pt x="0" y="5669280"/>
                  </a:moveTo>
                  <a:lnTo>
                    <a:pt x="6035040" y="0"/>
                  </a:lnTo>
                  <a:lnTo>
                    <a:pt x="12070080" y="5669280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576072"/>
            <a:ext cx="10972800" cy="480060"/>
            <a:chOff x="0" y="0"/>
            <a:chExt cx="1463040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7B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DISKUSI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987552"/>
            <a:ext cx="16184880" cy="1234440"/>
            <a:chOff x="0" y="0"/>
            <a:chExt cx="2157984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2157984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Lima keputusan yang menunggu persetujuan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81178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81178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83080" y="2811780"/>
            <a:ext cx="15499080" cy="685800"/>
            <a:chOff x="0" y="0"/>
            <a:chExt cx="2066544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65439" cy="914400"/>
            </a:xfrm>
            <a:custGeom>
              <a:avLst/>
              <a:gdLst/>
              <a:ahLst/>
              <a:cxnLst/>
              <a:rect r="r" b="b" t="t" l="l"/>
              <a:pathLst>
                <a:path h="9144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665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NIK sebagai PK murni, atau surrogate key + NIK unique? (rekomendasi)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744468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3744468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83080" y="3744468"/>
            <a:ext cx="15499080" cy="685800"/>
            <a:chOff x="0" y="0"/>
            <a:chExt cx="2066544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665439" cy="914400"/>
            </a:xfrm>
            <a:custGeom>
              <a:avLst/>
              <a:gdLst/>
              <a:ahLst/>
              <a:cxnLst/>
              <a:rect r="r" b="b" t="t" l="l"/>
              <a:pathLst>
                <a:path h="9144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665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 management Flutter: Riverpod atau Bloc?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4677156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4677156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83080" y="4677156"/>
            <a:ext cx="15499080" cy="685800"/>
            <a:chOff x="0" y="0"/>
            <a:chExt cx="2066544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665439" cy="914400"/>
            </a:xfrm>
            <a:custGeom>
              <a:avLst/>
              <a:gdLst/>
              <a:ahLst/>
              <a:cxnLst/>
              <a:rect r="r" b="b" t="t" l="l"/>
              <a:pathLst>
                <a:path h="9144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0665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Stok: unit fisik individual (rekomendasi), atau stok agregat sederhana?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5609844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5609844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83080" y="5609844"/>
            <a:ext cx="15499080" cy="685800"/>
            <a:chOff x="0" y="0"/>
            <a:chExt cx="2066544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665439" cy="914400"/>
            </a:xfrm>
            <a:custGeom>
              <a:avLst/>
              <a:gdLst/>
              <a:ahLst/>
              <a:cxnLst/>
              <a:rect r="r" b="b" t="t" l="l"/>
              <a:pathLst>
                <a:path h="9144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0665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#3 auto-fill katalog: masuk SHOULD HAVE, atau dicoret?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6542532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7B29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6542532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3F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83080" y="6542532"/>
            <a:ext cx="15499080" cy="685800"/>
            <a:chOff x="0" y="0"/>
            <a:chExt cx="2066544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665439" cy="914400"/>
            </a:xfrm>
            <a:custGeom>
              <a:avLst/>
              <a:gdLst/>
              <a:ahLst/>
              <a:cxnLst/>
              <a:rect r="r" b="b" t="t" l="l"/>
              <a:pathLst>
                <a:path h="9144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0665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Roadmap 12 minggu × 15 jam: realistis untuk beban studi saat ini?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3960">
            <a:off x="813425" y="7744778"/>
            <a:ext cx="16615420" cy="0"/>
          </a:xfrm>
          <a:prstGeom prst="line">
            <a:avLst/>
          </a:prstGeom>
          <a:ln cap="rnd" w="9525">
            <a:solidFill>
              <a:srgbClr val="3A5B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822960" y="8023860"/>
            <a:ext cx="16596360" cy="548640"/>
            <a:chOff x="0" y="0"/>
            <a:chExt cx="2212848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97BC6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Urutan pengerjaan yang disarankan: migration + seeder  →  ALG-2 beserta unit test  →  sisanya.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8846820"/>
            <a:ext cx="10972800" cy="822960"/>
            <a:chOff x="0" y="0"/>
            <a:chExt cx="1463040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46304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Terima kasih.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DAHV7VIX06A</dc:identifier>
  <dcterms:modified xsi:type="dcterms:W3CDTF">2011-08-01T06:04:30Z</dcterms:modified>
  <cp:revision>1</cp:revision>
  <dc:title>rentgear-presentasi-final.pptx</dc:title>
</cp:coreProperties>
</file>